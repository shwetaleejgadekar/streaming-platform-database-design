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89" r:id="rId3"/>
    <p:sldId id="257" r:id="rId4"/>
    <p:sldId id="273" r:id="rId5"/>
    <p:sldId id="260" r:id="rId6"/>
    <p:sldId id="262" r:id="rId7"/>
    <p:sldId id="302" r:id="rId8"/>
    <p:sldId id="306" r:id="rId9"/>
    <p:sldId id="303" r:id="rId10"/>
    <p:sldId id="304" r:id="rId11"/>
    <p:sldId id="305" r:id="rId12"/>
    <p:sldId id="300" r:id="rId13"/>
    <p:sldId id="265" r:id="rId14"/>
    <p:sldId id="291" r:id="rId15"/>
    <p:sldId id="292" r:id="rId16"/>
    <p:sldId id="293" r:id="rId17"/>
    <p:sldId id="294" r:id="rId18"/>
    <p:sldId id="295" r:id="rId19"/>
    <p:sldId id="266" r:id="rId20"/>
    <p:sldId id="296" r:id="rId21"/>
    <p:sldId id="267" r:id="rId22"/>
    <p:sldId id="268" r:id="rId23"/>
    <p:sldId id="269" r:id="rId24"/>
    <p:sldId id="309" r:id="rId25"/>
    <p:sldId id="310" r:id="rId26"/>
    <p:sldId id="308" r:id="rId27"/>
    <p:sldId id="311" r:id="rId28"/>
    <p:sldId id="307" r:id="rId29"/>
    <p:sldId id="298" r:id="rId30"/>
    <p:sldId id="299" r:id="rId31"/>
    <p:sldId id="312" r:id="rId32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34"/>
      <p:bold r:id="rId35"/>
      <p:italic r:id="rId36"/>
      <p:boldItalic r:id="rId37"/>
    </p:embeddedFont>
    <p:embeddedFont>
      <p:font typeface="Fira Sans Extra Condensed Medium" panose="020B0604020202020204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46859DA-A325-4DD7-A33B-C38B5FFF557B}">
          <p14:sldIdLst>
            <p14:sldId id="256"/>
            <p14:sldId id="289"/>
            <p14:sldId id="257"/>
            <p14:sldId id="273"/>
            <p14:sldId id="260"/>
            <p14:sldId id="262"/>
            <p14:sldId id="302"/>
            <p14:sldId id="306"/>
            <p14:sldId id="303"/>
            <p14:sldId id="304"/>
            <p14:sldId id="305"/>
            <p14:sldId id="300"/>
            <p14:sldId id="265"/>
            <p14:sldId id="291"/>
            <p14:sldId id="292"/>
            <p14:sldId id="293"/>
            <p14:sldId id="294"/>
            <p14:sldId id="295"/>
            <p14:sldId id="266"/>
            <p14:sldId id="296"/>
            <p14:sldId id="267"/>
            <p14:sldId id="268"/>
            <p14:sldId id="269"/>
            <p14:sldId id="309"/>
            <p14:sldId id="310"/>
            <p14:sldId id="308"/>
            <p14:sldId id="311"/>
            <p14:sldId id="307"/>
            <p14:sldId id="298"/>
            <p14:sldId id="299"/>
            <p14:sldId id="31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CF6F6-3DC8-DD08-18B8-98435E02F460}" v="8" dt="2025-03-11T20:15:10.212"/>
    <p1510:client id="{6B32A7C4-4924-3650-7D48-FFB3724E4170}" v="49" dt="2025-03-11T21:18:26.246"/>
    <p1510:client id="{8D54989C-4024-7FC1-B623-0BB2C4345F94}" v="1988" dt="2025-03-11T07:14:03.434"/>
    <p1510:client id="{92CC55C3-1B07-6BA0-3E8E-AF5A5B646F2E}" v="1488" dt="2025-03-10T20:41:37.295"/>
    <p1510:client id="{96371509-DED2-2F0F-FF5E-C30777E1E5EC}" v="47" dt="2025-03-11T23:29:19.140"/>
    <p1510:client id="{E3713680-75C8-AD12-1F32-7B023056BB71}" v="92" dt="2025-03-11T07:20:17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>
          <a:extLst>
            <a:ext uri="{FF2B5EF4-FFF2-40B4-BE49-F238E27FC236}">
              <a16:creationId xmlns:a16="http://schemas.microsoft.com/office/drawing/2014/main" id="{7BFDFF85-EB94-AC0A-D1C0-9BD358A8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8e8b782381_0_1693:notes">
            <a:extLst>
              <a:ext uri="{FF2B5EF4-FFF2-40B4-BE49-F238E27FC236}">
                <a16:creationId xmlns:a16="http://schemas.microsoft.com/office/drawing/2014/main" id="{E34A37F7-4679-549A-8D0F-7ED06B606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8e8b782381_0_1693:notes">
            <a:extLst>
              <a:ext uri="{FF2B5EF4-FFF2-40B4-BE49-F238E27FC236}">
                <a16:creationId xmlns:a16="http://schemas.microsoft.com/office/drawing/2014/main" id="{F6BF0F7F-377B-766A-EAEC-65F9A3118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73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a1b6e560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a1b6e560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8e8b782381_0_1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8e8b782381_0_1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a1b6e560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a1b6e560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CA4B4052-9F49-A365-D640-D7D5D082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>
            <a:extLst>
              <a:ext uri="{FF2B5EF4-FFF2-40B4-BE49-F238E27FC236}">
                <a16:creationId xmlns:a16="http://schemas.microsoft.com/office/drawing/2014/main" id="{A5DA52F3-B735-BABB-6BDA-864FA3606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>
            <a:extLst>
              <a:ext uri="{FF2B5EF4-FFF2-40B4-BE49-F238E27FC236}">
                <a16:creationId xmlns:a16="http://schemas.microsoft.com/office/drawing/2014/main" id="{AF633F29-BBC7-54DB-928D-D42335E75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338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7E98B01C-760F-5EBE-FC23-B132CCD4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>
            <a:extLst>
              <a:ext uri="{FF2B5EF4-FFF2-40B4-BE49-F238E27FC236}">
                <a16:creationId xmlns:a16="http://schemas.microsoft.com/office/drawing/2014/main" id="{830E88EB-1F93-3BBC-C9EC-B388CC6C3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>
            <a:extLst>
              <a:ext uri="{FF2B5EF4-FFF2-40B4-BE49-F238E27FC236}">
                <a16:creationId xmlns:a16="http://schemas.microsoft.com/office/drawing/2014/main" id="{1E74424C-FC17-DAB0-38DE-5339D6045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482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58D5730-3BCD-1D96-6129-866A222F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>
            <a:extLst>
              <a:ext uri="{FF2B5EF4-FFF2-40B4-BE49-F238E27FC236}">
                <a16:creationId xmlns:a16="http://schemas.microsoft.com/office/drawing/2014/main" id="{9287528A-7F28-283C-9DA1-87986C454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>
            <a:extLst>
              <a:ext uri="{FF2B5EF4-FFF2-40B4-BE49-F238E27FC236}">
                <a16:creationId xmlns:a16="http://schemas.microsoft.com/office/drawing/2014/main" id="{9FCB6035-DA7B-B33C-D698-C6B411601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977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31C0D433-ACEC-85E7-0EFC-207FA7B1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>
            <a:extLst>
              <a:ext uri="{FF2B5EF4-FFF2-40B4-BE49-F238E27FC236}">
                <a16:creationId xmlns:a16="http://schemas.microsoft.com/office/drawing/2014/main" id="{7EC76B35-4ED0-C409-5D1D-802CFCDE6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>
            <a:extLst>
              <a:ext uri="{FF2B5EF4-FFF2-40B4-BE49-F238E27FC236}">
                <a16:creationId xmlns:a16="http://schemas.microsoft.com/office/drawing/2014/main" id="{D095FD2B-44A7-5C67-0930-C5C185C3B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15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BD0B2703-794B-2C31-09A5-44F9B9E9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>
            <a:extLst>
              <a:ext uri="{FF2B5EF4-FFF2-40B4-BE49-F238E27FC236}">
                <a16:creationId xmlns:a16="http://schemas.microsoft.com/office/drawing/2014/main" id="{6E56651F-180C-6F85-2AF6-E62251C37A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>
            <a:extLst>
              <a:ext uri="{FF2B5EF4-FFF2-40B4-BE49-F238E27FC236}">
                <a16:creationId xmlns:a16="http://schemas.microsoft.com/office/drawing/2014/main" id="{9198EB6A-B9B0-0536-32C7-8297F7DE4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61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CA578AA-3B24-68AF-BD1C-5C0A1AA7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>
            <a:extLst>
              <a:ext uri="{FF2B5EF4-FFF2-40B4-BE49-F238E27FC236}">
                <a16:creationId xmlns:a16="http://schemas.microsoft.com/office/drawing/2014/main" id="{50D85281-8757-D6CA-C001-B97E5DD56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>
            <a:extLst>
              <a:ext uri="{FF2B5EF4-FFF2-40B4-BE49-F238E27FC236}">
                <a16:creationId xmlns:a16="http://schemas.microsoft.com/office/drawing/2014/main" id="{B9E5B8A0-30FA-7AA6-2CF9-A212C75E6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62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e8b782381_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e8b782381_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8D6D983-D93A-2660-7503-F17711BB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e8b782381_0_573:notes">
            <a:extLst>
              <a:ext uri="{FF2B5EF4-FFF2-40B4-BE49-F238E27FC236}">
                <a16:creationId xmlns:a16="http://schemas.microsoft.com/office/drawing/2014/main" id="{78251F47-A8BC-3803-2447-A3C926904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e8b782381_0_573:notes">
            <a:extLst>
              <a:ext uri="{FF2B5EF4-FFF2-40B4-BE49-F238E27FC236}">
                <a16:creationId xmlns:a16="http://schemas.microsoft.com/office/drawing/2014/main" id="{8F2161DB-D4D5-073D-C470-71655E4F5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01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796A8401-3F21-1755-EE87-8C03B0A4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e8b782381_0_573:notes">
            <a:extLst>
              <a:ext uri="{FF2B5EF4-FFF2-40B4-BE49-F238E27FC236}">
                <a16:creationId xmlns:a16="http://schemas.microsoft.com/office/drawing/2014/main" id="{4E4884F9-C999-F571-B768-C5122EA46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e8b782381_0_573:notes">
            <a:extLst>
              <a:ext uri="{FF2B5EF4-FFF2-40B4-BE49-F238E27FC236}">
                <a16:creationId xmlns:a16="http://schemas.microsoft.com/office/drawing/2014/main" id="{77490D28-7634-42B2-1536-599FCF396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277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9857D0A-61DA-7216-C93B-E8993430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e8b782381_0_573:notes">
            <a:extLst>
              <a:ext uri="{FF2B5EF4-FFF2-40B4-BE49-F238E27FC236}">
                <a16:creationId xmlns:a16="http://schemas.microsoft.com/office/drawing/2014/main" id="{1E2CBDA2-50C5-0B74-B81A-EA6A1BB25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e8b782381_0_573:notes">
            <a:extLst>
              <a:ext uri="{FF2B5EF4-FFF2-40B4-BE49-F238E27FC236}">
                <a16:creationId xmlns:a16="http://schemas.microsoft.com/office/drawing/2014/main" id="{0A632F17-E2B1-25DD-9953-C7B2909ED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793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6E57168F-BE00-A7C1-6FBA-C9C6F78C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e8b782381_0_573:notes">
            <a:extLst>
              <a:ext uri="{FF2B5EF4-FFF2-40B4-BE49-F238E27FC236}">
                <a16:creationId xmlns:a16="http://schemas.microsoft.com/office/drawing/2014/main" id="{B6D7CEB9-CFDB-946F-57E5-84E92E6A5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e8b782381_0_573:notes">
            <a:extLst>
              <a:ext uri="{FF2B5EF4-FFF2-40B4-BE49-F238E27FC236}">
                <a16:creationId xmlns:a16="http://schemas.microsoft.com/office/drawing/2014/main" id="{F1A8CCEC-CD2D-D49D-EF8C-FFA9C6073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314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DCA9625-B1D5-B74C-EDDC-BF7E4696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e8b782381_0_573:notes">
            <a:extLst>
              <a:ext uri="{FF2B5EF4-FFF2-40B4-BE49-F238E27FC236}">
                <a16:creationId xmlns:a16="http://schemas.microsoft.com/office/drawing/2014/main" id="{BC04B949-D175-A35C-FCE0-60312FC32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e8b782381_0_573:notes">
            <a:extLst>
              <a:ext uri="{FF2B5EF4-FFF2-40B4-BE49-F238E27FC236}">
                <a16:creationId xmlns:a16="http://schemas.microsoft.com/office/drawing/2014/main" id="{F45DAC9B-9234-3D7D-CAEB-16E8DC6D0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176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8e8b782381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8e8b782381_0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6F173890-2699-21E5-1828-18156158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8e8b782381_0_797:notes">
            <a:extLst>
              <a:ext uri="{FF2B5EF4-FFF2-40B4-BE49-F238E27FC236}">
                <a16:creationId xmlns:a16="http://schemas.microsoft.com/office/drawing/2014/main" id="{531C439D-C0BB-494D-1814-65556383A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8e8b782381_0_797:notes">
            <a:extLst>
              <a:ext uri="{FF2B5EF4-FFF2-40B4-BE49-F238E27FC236}">
                <a16:creationId xmlns:a16="http://schemas.microsoft.com/office/drawing/2014/main" id="{72BFA7D9-754B-3E73-7AA1-BB75DDA80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324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8bc00f6a1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8bc00f6a12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8bc00f6a1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8bc00f6a12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9C9A9869-963E-ABC7-C928-52B03AFA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F0C015DC-DBE5-E85C-1C86-9BB86A742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5BEF99BC-A773-619C-7C65-4EDB0E029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159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FCF75787-3BD3-0392-7D10-B1BF952F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DD6ECF99-131C-9709-F147-48EFC9D0B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6FBDC870-289D-9F64-C835-16F03156F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0969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575BD75E-6A8C-0737-7058-5B95608F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2B350FF6-155C-F3C2-D1B0-19B8BAED1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8568B7AD-5021-B5D7-229C-748130D45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446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90EFAC41-1D02-0A4A-342C-AB19472D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F3A54550-9047-0B47-9B28-755D30DC9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B65E14DB-CDFE-DA57-6583-13923CDD46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6338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C9246B43-E9E6-D1C2-377D-1C551F51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F1C7D189-5FE2-586D-B73D-22C6DC9F1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48B5FCA6-59BC-DF69-47C8-C4A1D9E0C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8371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21AB12C0-9CCE-1215-3B19-624528924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14DC6681-A23B-B59A-C40F-C3BF49B04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51823AB1-E0D1-2D98-165C-8EF8F8341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3936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74849D7D-A655-9A88-E753-196A3559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8bc00f6a12_0_226:notes">
            <a:extLst>
              <a:ext uri="{FF2B5EF4-FFF2-40B4-BE49-F238E27FC236}">
                <a16:creationId xmlns:a16="http://schemas.microsoft.com/office/drawing/2014/main" id="{A900C05E-DC1B-DB73-67FE-51848FA31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8bc00f6a12_0_226:notes">
            <a:extLst>
              <a:ext uri="{FF2B5EF4-FFF2-40B4-BE49-F238E27FC236}">
                <a16:creationId xmlns:a16="http://schemas.microsoft.com/office/drawing/2014/main" id="{6F71D885-C4CB-609C-334F-0B866B58F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5995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E9BA7AFA-82F0-7442-E1CC-F749F711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>
            <a:extLst>
              <a:ext uri="{FF2B5EF4-FFF2-40B4-BE49-F238E27FC236}">
                <a16:creationId xmlns:a16="http://schemas.microsoft.com/office/drawing/2014/main" id="{02A5AB65-DB60-4B18-27CC-734B86B1C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>
            <a:extLst>
              <a:ext uri="{FF2B5EF4-FFF2-40B4-BE49-F238E27FC236}">
                <a16:creationId xmlns:a16="http://schemas.microsoft.com/office/drawing/2014/main" id="{92B4A8C1-3B4A-F018-0B0F-63987434B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91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17025" y="12804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5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17025" y="34452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782809" y="564997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4400" dirty="0">
                <a:solidFill>
                  <a:srgbClr val="000000"/>
                </a:solidFill>
              </a:rPr>
              <a:t>Streaming Service</a:t>
            </a:r>
            <a:br>
              <a:rPr lang="en" sz="4400" dirty="0">
                <a:solidFill>
                  <a:srgbClr val="000000"/>
                </a:solidFill>
              </a:rPr>
            </a:br>
            <a:r>
              <a:rPr lang="en" sz="4400" dirty="0">
                <a:solidFill>
                  <a:srgbClr val="000000"/>
                </a:solidFill>
              </a:rPr>
              <a:t>Platform</a:t>
            </a:r>
            <a:br>
              <a:rPr lang="en" sz="4400" dirty="0">
                <a:solidFill>
                  <a:srgbClr val="000000"/>
                </a:solidFill>
              </a:rPr>
            </a:br>
            <a:r>
              <a:rPr lang="en" sz="4400" dirty="0">
                <a:solidFill>
                  <a:srgbClr val="000000"/>
                </a:solidFill>
              </a:rPr>
              <a:t>Database</a:t>
            </a:r>
            <a:endParaRPr lang="en" sz="4400" dirty="0"/>
          </a:p>
        </p:txBody>
      </p:sp>
      <p:grpSp>
        <p:nvGrpSpPr>
          <p:cNvPr id="57" name="Google Shape;57;p15"/>
          <p:cNvGrpSpPr/>
          <p:nvPr/>
        </p:nvGrpSpPr>
        <p:grpSpPr>
          <a:xfrm rot="1578645" flipH="1">
            <a:off x="2731727" y="1134112"/>
            <a:ext cx="1566930" cy="1715068"/>
            <a:chOff x="4718425" y="934625"/>
            <a:chExt cx="1467100" cy="1605800"/>
          </a:xfrm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rot="1578645" flipH="1">
            <a:off x="1209287" y="2129531"/>
            <a:ext cx="883060" cy="1781848"/>
            <a:chOff x="6176375" y="2540550"/>
            <a:chExt cx="826800" cy="1668325"/>
          </a:xfrm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rot="1578645" flipH="1">
            <a:off x="2276008" y="697150"/>
            <a:ext cx="709717" cy="1720355"/>
            <a:chOff x="6042175" y="934625"/>
            <a:chExt cx="664500" cy="1610750"/>
          </a:xfrm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rot="1578645" flipH="1">
            <a:off x="722626" y="1237720"/>
            <a:ext cx="1983628" cy="780902"/>
            <a:chOff x="6185550" y="1814200"/>
            <a:chExt cx="1857250" cy="731150"/>
          </a:xfrm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rot="1578645" flipH="1">
            <a:off x="2109021" y="2795838"/>
            <a:ext cx="1944805" cy="975633"/>
            <a:chOff x="4369400" y="2545175"/>
            <a:chExt cx="1820900" cy="913475"/>
          </a:xfrm>
        </p:grpSpPr>
        <p:cxnSp>
          <p:nvCxnSpPr>
            <p:cNvPr id="70" name="Google Shape;70;p15"/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578645" flipH="1">
            <a:off x="1980644" y="2609568"/>
            <a:ext cx="1276075" cy="1710769"/>
            <a:chOff x="4995600" y="2545225"/>
            <a:chExt cx="1194775" cy="1601775"/>
          </a:xfrm>
        </p:grpSpPr>
        <p:cxnSp>
          <p:nvCxnSpPr>
            <p:cNvPr id="73" name="Google Shape;73;p15"/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rot="1578645" flipH="1">
            <a:off x="966801" y="2074508"/>
            <a:ext cx="1383493" cy="664004"/>
            <a:chOff x="6190400" y="2545375"/>
            <a:chExt cx="1295350" cy="621700"/>
          </a:xfrm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1578645" flipH="1">
            <a:off x="2459157" y="2311074"/>
            <a:ext cx="1561911" cy="485107"/>
            <a:chOff x="4718425" y="2096250"/>
            <a:chExt cx="1462400" cy="454200"/>
          </a:xfrm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1578645" flipH="1">
            <a:off x="1623907" y="1111363"/>
            <a:ext cx="1113158" cy="1112690"/>
            <a:chOff x="6185500" y="1498650"/>
            <a:chExt cx="1042238" cy="1041800"/>
          </a:xfrm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578645" flipH="1">
            <a:off x="1819727" y="1791398"/>
            <a:ext cx="1250896" cy="1250896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pic>
        <p:nvPicPr>
          <p:cNvPr id="2" name="Picture 1" descr="A black and white circular object with three circles&#10;&#10;AI-generated content may be incorrect.">
            <a:extLst>
              <a:ext uri="{FF2B5EF4-FFF2-40B4-BE49-F238E27FC236}">
                <a16:creationId xmlns:a16="http://schemas.microsoft.com/office/drawing/2014/main" id="{7048E4AA-7F5C-3AD0-B591-313322979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970" y="2104579"/>
            <a:ext cx="646536" cy="630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2A341F-76C1-3699-7F59-525D8982DD5A}"/>
              </a:ext>
            </a:extLst>
          </p:cNvPr>
          <p:cNvSpPr txBox="1"/>
          <p:nvPr/>
        </p:nvSpPr>
        <p:spPr>
          <a:xfrm>
            <a:off x="4853124" y="3159953"/>
            <a:ext cx="336403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Roboto"/>
              </a:rPr>
              <a:t>Group 9 </a:t>
            </a:r>
          </a:p>
          <a:p>
            <a:r>
              <a:rPr lang="en-US" sz="1800" b="1" dirty="0">
                <a:latin typeface="Roboto"/>
              </a:rPr>
              <a:t>Ankita Dhekane</a:t>
            </a:r>
            <a:endParaRPr lang="en-US" sz="1800">
              <a:latin typeface="Roboto"/>
            </a:endParaRPr>
          </a:p>
          <a:p>
            <a:r>
              <a:rPr lang="en-US" sz="1800" b="1" dirty="0">
                <a:latin typeface="Roboto"/>
              </a:rPr>
              <a:t>Maheshwari Bhandare</a:t>
            </a:r>
          </a:p>
          <a:p>
            <a:r>
              <a:rPr lang="en-US" sz="1800" b="1" dirty="0" err="1">
                <a:latin typeface="Roboto"/>
                <a:ea typeface="Roboto"/>
                <a:cs typeface="Roboto"/>
              </a:rPr>
              <a:t>Shwetalee</a:t>
            </a:r>
            <a:r>
              <a:rPr lang="en-US" sz="1800" b="1" dirty="0">
                <a:latin typeface="Roboto"/>
                <a:ea typeface="Roboto"/>
                <a:cs typeface="Roboto"/>
              </a:rPr>
              <a:t> Gadekar</a:t>
            </a:r>
            <a:endParaRPr lang="en-US" dirty="0"/>
          </a:p>
          <a:p>
            <a:r>
              <a:rPr lang="en-US" sz="1800" b="1" dirty="0">
                <a:latin typeface="Roboto"/>
              </a:rPr>
              <a:t>Trupti Lone</a:t>
            </a:r>
          </a:p>
          <a:p>
            <a:endParaRPr lang="en-US" sz="1800" b="1" dirty="0">
              <a:latin typeface="Roboto"/>
            </a:endParaRPr>
          </a:p>
          <a:p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8">
          <a:extLst>
            <a:ext uri="{FF2B5EF4-FFF2-40B4-BE49-F238E27FC236}">
              <a16:creationId xmlns:a16="http://schemas.microsoft.com/office/drawing/2014/main" id="{473EF1BF-F331-8666-F86E-6C1EF4CD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45">
            <a:extLst>
              <a:ext uri="{FF2B5EF4-FFF2-40B4-BE49-F238E27FC236}">
                <a16:creationId xmlns:a16="http://schemas.microsoft.com/office/drawing/2014/main" id="{2015A6C6-AB26-3810-B2AF-591C89D4E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8462" y="248845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Contents</a:t>
            </a:r>
          </a:p>
        </p:txBody>
      </p:sp>
      <p:grpSp>
        <p:nvGrpSpPr>
          <p:cNvPr id="1530" name="Google Shape;1530;p45">
            <a:extLst>
              <a:ext uri="{FF2B5EF4-FFF2-40B4-BE49-F238E27FC236}">
                <a16:creationId xmlns:a16="http://schemas.microsoft.com/office/drawing/2014/main" id="{80542BC8-E99E-54A0-AD11-7F2C34CB7F4E}"/>
              </a:ext>
            </a:extLst>
          </p:cNvPr>
          <p:cNvGrpSpPr/>
          <p:nvPr/>
        </p:nvGrpSpPr>
        <p:grpSpPr>
          <a:xfrm>
            <a:off x="2790092" y="846494"/>
            <a:ext cx="3776281" cy="874431"/>
            <a:chOff x="2674970" y="1286425"/>
            <a:chExt cx="3776281" cy="874431"/>
          </a:xfrm>
        </p:grpSpPr>
        <p:sp>
          <p:nvSpPr>
            <p:cNvPr id="1532" name="Google Shape;1532;p45">
              <a:extLst>
                <a:ext uri="{FF2B5EF4-FFF2-40B4-BE49-F238E27FC236}">
                  <a16:creationId xmlns:a16="http://schemas.microsoft.com/office/drawing/2014/main" id="{D779772B-5E54-936F-F4C0-7AB69989762D}"/>
                </a:ext>
              </a:extLst>
            </p:cNvPr>
            <p:cNvSpPr/>
            <p:nvPr/>
          </p:nvSpPr>
          <p:spPr>
            <a:xfrm>
              <a:off x="2674970" y="1404774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1200" dirty="0">
                <a:solidFill>
                  <a:schemeClr val="accent1"/>
                </a:solidFill>
              </a:endParaRPr>
            </a:p>
          </p:txBody>
        </p:sp>
        <p:sp>
          <p:nvSpPr>
            <p:cNvPr id="1533" name="Google Shape;1533;p45">
              <a:extLst>
                <a:ext uri="{FF2B5EF4-FFF2-40B4-BE49-F238E27FC236}">
                  <a16:creationId xmlns:a16="http://schemas.microsoft.com/office/drawing/2014/main" id="{932B3FC8-8B76-C534-4C67-06F0B2611668}"/>
                </a:ext>
              </a:extLst>
            </p:cNvPr>
            <p:cNvSpPr/>
            <p:nvPr/>
          </p:nvSpPr>
          <p:spPr>
            <a:xfrm>
              <a:off x="3619613" y="1286425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4" name="Google Shape;1534;p45">
              <a:extLst>
                <a:ext uri="{FF2B5EF4-FFF2-40B4-BE49-F238E27FC236}">
                  <a16:creationId xmlns:a16="http://schemas.microsoft.com/office/drawing/2014/main" id="{F9783112-597E-A234-5607-422D3626FEC7}"/>
                </a:ext>
              </a:extLst>
            </p:cNvPr>
            <p:cNvSpPr/>
            <p:nvPr/>
          </p:nvSpPr>
          <p:spPr>
            <a:xfrm>
              <a:off x="4704575" y="1511673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200" b="1" dirty="0">
                  <a:solidFill>
                    <a:schemeClr val="bg1"/>
                  </a:solidFill>
                  <a:latin typeface="Fira Sans Extra Condensed"/>
                  <a:cs typeface="Times New Roman"/>
                  <a:sym typeface="Fira Sans Extra Condensed Medium"/>
                </a:rPr>
                <a:t>Business/Organization Description</a:t>
              </a:r>
              <a:endParaRPr lang="en-US" sz="1200" dirty="0">
                <a:solidFill>
                  <a:schemeClr val="bg1"/>
                </a:solidFill>
                <a:latin typeface="Fira Sans Extra Condensed"/>
              </a:endParaRPr>
            </a:p>
          </p:txBody>
        </p:sp>
      </p:grpSp>
      <p:grpSp>
        <p:nvGrpSpPr>
          <p:cNvPr id="1535" name="Google Shape;1535;p45">
            <a:extLst>
              <a:ext uri="{FF2B5EF4-FFF2-40B4-BE49-F238E27FC236}">
                <a16:creationId xmlns:a16="http://schemas.microsoft.com/office/drawing/2014/main" id="{30361B23-78BD-55C8-AC1B-5580170B897D}"/>
              </a:ext>
            </a:extLst>
          </p:cNvPr>
          <p:cNvGrpSpPr/>
          <p:nvPr/>
        </p:nvGrpSpPr>
        <p:grpSpPr>
          <a:xfrm>
            <a:off x="2790092" y="1628204"/>
            <a:ext cx="3780393" cy="800424"/>
            <a:chOff x="2674970" y="2047579"/>
            <a:chExt cx="3780393" cy="883508"/>
          </a:xfrm>
        </p:grpSpPr>
        <p:sp>
          <p:nvSpPr>
            <p:cNvPr id="1537" name="Google Shape;1537;p45">
              <a:extLst>
                <a:ext uri="{FF2B5EF4-FFF2-40B4-BE49-F238E27FC236}">
                  <a16:creationId xmlns:a16="http://schemas.microsoft.com/office/drawing/2014/main" id="{1C248213-8086-2CA9-449E-5CE506BE3FED}"/>
                </a:ext>
              </a:extLst>
            </p:cNvPr>
            <p:cNvSpPr/>
            <p:nvPr/>
          </p:nvSpPr>
          <p:spPr>
            <a:xfrm>
              <a:off x="2674970" y="2250135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1200" dirty="0">
                <a:solidFill>
                  <a:schemeClr val="accent2"/>
                </a:solidFill>
              </a:endParaRPr>
            </a:p>
          </p:txBody>
        </p:sp>
        <p:sp>
          <p:nvSpPr>
            <p:cNvPr id="1538" name="Google Shape;1538;p45">
              <a:extLst>
                <a:ext uri="{FF2B5EF4-FFF2-40B4-BE49-F238E27FC236}">
                  <a16:creationId xmlns:a16="http://schemas.microsoft.com/office/drawing/2014/main" id="{69213C92-75E7-5B82-FA8A-88E63E349D83}"/>
                </a:ext>
              </a:extLst>
            </p:cNvPr>
            <p:cNvSpPr/>
            <p:nvPr/>
          </p:nvSpPr>
          <p:spPr>
            <a:xfrm>
              <a:off x="3619613" y="2047579"/>
              <a:ext cx="947502" cy="883508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9" name="Google Shape;1539;p45">
              <a:extLst>
                <a:ext uri="{FF2B5EF4-FFF2-40B4-BE49-F238E27FC236}">
                  <a16:creationId xmlns:a16="http://schemas.microsoft.com/office/drawing/2014/main" id="{B73F0A57-D47D-262C-C0D4-AC0F9F96C4E4}"/>
                </a:ext>
              </a:extLst>
            </p:cNvPr>
            <p:cNvSpPr/>
            <p:nvPr/>
          </p:nvSpPr>
          <p:spPr>
            <a:xfrm>
              <a:off x="4708687" y="2250135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Conceptual ERD</a:t>
              </a:r>
              <a:endParaRPr lang="en" dirty="0">
                <a:solidFill>
                  <a:srgbClr val="FFFFFF"/>
                </a:solidFill>
                <a:latin typeface="Fira Sans Extra Condensed Medium"/>
              </a:endParaRPr>
            </a:p>
          </p:txBody>
        </p:sp>
      </p:grpSp>
      <p:grpSp>
        <p:nvGrpSpPr>
          <p:cNvPr id="1540" name="Google Shape;1540;p45">
            <a:extLst>
              <a:ext uri="{FF2B5EF4-FFF2-40B4-BE49-F238E27FC236}">
                <a16:creationId xmlns:a16="http://schemas.microsoft.com/office/drawing/2014/main" id="{F756A711-C43A-E9F5-CE2A-BE002CB2722D}"/>
              </a:ext>
            </a:extLst>
          </p:cNvPr>
          <p:cNvGrpSpPr/>
          <p:nvPr/>
        </p:nvGrpSpPr>
        <p:grpSpPr>
          <a:xfrm>
            <a:off x="2790092" y="2344132"/>
            <a:ext cx="3759835" cy="874431"/>
            <a:chOff x="2687305" y="2808733"/>
            <a:chExt cx="3759835" cy="874431"/>
          </a:xfrm>
        </p:grpSpPr>
        <p:sp>
          <p:nvSpPr>
            <p:cNvPr id="1542" name="Google Shape;1542;p45">
              <a:extLst>
                <a:ext uri="{FF2B5EF4-FFF2-40B4-BE49-F238E27FC236}">
                  <a16:creationId xmlns:a16="http://schemas.microsoft.com/office/drawing/2014/main" id="{14548069-969B-3575-0C0B-99C12F2DD0DE}"/>
                </a:ext>
              </a:extLst>
            </p:cNvPr>
            <p:cNvSpPr/>
            <p:nvPr/>
          </p:nvSpPr>
          <p:spPr>
            <a:xfrm>
              <a:off x="2687305" y="2959974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1200" dirty="0">
                <a:solidFill>
                  <a:schemeClr val="accent3"/>
                </a:solidFill>
              </a:endParaRPr>
            </a:p>
          </p:txBody>
        </p:sp>
        <p:sp>
          <p:nvSpPr>
            <p:cNvPr id="1543" name="Google Shape;1543;p45">
              <a:extLst>
                <a:ext uri="{FF2B5EF4-FFF2-40B4-BE49-F238E27FC236}">
                  <a16:creationId xmlns:a16="http://schemas.microsoft.com/office/drawing/2014/main" id="{BF1F1EE1-686A-2103-81AA-75A07ACDADF7}"/>
                </a:ext>
              </a:extLst>
            </p:cNvPr>
            <p:cNvSpPr/>
            <p:nvPr/>
          </p:nvSpPr>
          <p:spPr>
            <a:xfrm>
              <a:off x="3619613" y="2808733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4" name="Google Shape;1544;p45">
              <a:extLst>
                <a:ext uri="{FF2B5EF4-FFF2-40B4-BE49-F238E27FC236}">
                  <a16:creationId xmlns:a16="http://schemas.microsoft.com/office/drawing/2014/main" id="{BFCA7B47-5CCE-7500-21B7-4C508E42ECC5}"/>
                </a:ext>
              </a:extLst>
            </p:cNvPr>
            <p:cNvSpPr/>
            <p:nvPr/>
          </p:nvSpPr>
          <p:spPr>
            <a:xfrm>
              <a:off x="4692241" y="2955863"/>
              <a:ext cx="1754899" cy="415712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Relation</a:t>
              </a: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 </a:t>
              </a:r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Schema</a:t>
              </a:r>
              <a:endParaRPr lang="en-US"/>
            </a:p>
          </p:txBody>
        </p:sp>
      </p:grpSp>
      <p:grpSp>
        <p:nvGrpSpPr>
          <p:cNvPr id="1550" name="Google Shape;1550;p45">
            <a:extLst>
              <a:ext uri="{FF2B5EF4-FFF2-40B4-BE49-F238E27FC236}">
                <a16:creationId xmlns:a16="http://schemas.microsoft.com/office/drawing/2014/main" id="{3D55D563-478F-2DC0-9A38-B491C0899A2B}"/>
              </a:ext>
            </a:extLst>
          </p:cNvPr>
          <p:cNvGrpSpPr/>
          <p:nvPr/>
        </p:nvGrpSpPr>
        <p:grpSpPr>
          <a:xfrm>
            <a:off x="4056115" y="2643513"/>
            <a:ext cx="280072" cy="275520"/>
            <a:chOff x="4210933" y="2926777"/>
            <a:chExt cx="280072" cy="275520"/>
          </a:xfrm>
        </p:grpSpPr>
        <p:sp>
          <p:nvSpPr>
            <p:cNvPr id="1551" name="Google Shape;1551;p45">
              <a:extLst>
                <a:ext uri="{FF2B5EF4-FFF2-40B4-BE49-F238E27FC236}">
                  <a16:creationId xmlns:a16="http://schemas.microsoft.com/office/drawing/2014/main" id="{AF58DDCD-1034-DA7F-0509-3F697C6A3176}"/>
                </a:ext>
              </a:extLst>
            </p:cNvPr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5">
              <a:extLst>
                <a:ext uri="{FF2B5EF4-FFF2-40B4-BE49-F238E27FC236}">
                  <a16:creationId xmlns:a16="http://schemas.microsoft.com/office/drawing/2014/main" id="{7DDE2A2E-118B-D2A4-6917-F6634AA5B9F2}"/>
                </a:ext>
              </a:extLst>
            </p:cNvPr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5">
              <a:extLst>
                <a:ext uri="{FF2B5EF4-FFF2-40B4-BE49-F238E27FC236}">
                  <a16:creationId xmlns:a16="http://schemas.microsoft.com/office/drawing/2014/main" id="{64EA6061-0D65-7B24-52AC-6DA55730E05C}"/>
                </a:ext>
              </a:extLst>
            </p:cNvPr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5">
              <a:extLst>
                <a:ext uri="{FF2B5EF4-FFF2-40B4-BE49-F238E27FC236}">
                  <a16:creationId xmlns:a16="http://schemas.microsoft.com/office/drawing/2014/main" id="{2997D2A6-E22C-F568-AA50-E8EA221D7D2A}"/>
                </a:ext>
              </a:extLst>
            </p:cNvPr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5">
              <a:extLst>
                <a:ext uri="{FF2B5EF4-FFF2-40B4-BE49-F238E27FC236}">
                  <a16:creationId xmlns:a16="http://schemas.microsoft.com/office/drawing/2014/main" id="{B64BB096-6F5A-20C1-098D-04E1A7B7B0A4}"/>
                </a:ext>
              </a:extLst>
            </p:cNvPr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5">
              <a:extLst>
                <a:ext uri="{FF2B5EF4-FFF2-40B4-BE49-F238E27FC236}">
                  <a16:creationId xmlns:a16="http://schemas.microsoft.com/office/drawing/2014/main" id="{CB413CC2-5AFA-4C1F-656E-3A26FEE81A32}"/>
                </a:ext>
              </a:extLst>
            </p:cNvPr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5">
              <a:extLst>
                <a:ext uri="{FF2B5EF4-FFF2-40B4-BE49-F238E27FC236}">
                  <a16:creationId xmlns:a16="http://schemas.microsoft.com/office/drawing/2014/main" id="{50864601-14CF-B7C7-F532-58D652A146BE}"/>
                </a:ext>
              </a:extLst>
            </p:cNvPr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5">
              <a:extLst>
                <a:ext uri="{FF2B5EF4-FFF2-40B4-BE49-F238E27FC236}">
                  <a16:creationId xmlns:a16="http://schemas.microsoft.com/office/drawing/2014/main" id="{A0D0D905-4A0B-C404-A17E-0C1CD607E424}"/>
                </a:ext>
              </a:extLst>
            </p:cNvPr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5">
              <a:extLst>
                <a:ext uri="{FF2B5EF4-FFF2-40B4-BE49-F238E27FC236}">
                  <a16:creationId xmlns:a16="http://schemas.microsoft.com/office/drawing/2014/main" id="{1F8E705E-F68A-F554-3614-CBFC6C2E3FF0}"/>
                </a:ext>
              </a:extLst>
            </p:cNvPr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5">
              <a:extLst>
                <a:ext uri="{FF2B5EF4-FFF2-40B4-BE49-F238E27FC236}">
                  <a16:creationId xmlns:a16="http://schemas.microsoft.com/office/drawing/2014/main" id="{64408A22-A5F1-870B-BC33-8CB9C2B6EEB4}"/>
                </a:ext>
              </a:extLst>
            </p:cNvPr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5">
              <a:extLst>
                <a:ext uri="{FF2B5EF4-FFF2-40B4-BE49-F238E27FC236}">
                  <a16:creationId xmlns:a16="http://schemas.microsoft.com/office/drawing/2014/main" id="{E64D32DD-6C88-6E98-3F99-70B40F94478B}"/>
                </a:ext>
              </a:extLst>
            </p:cNvPr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5">
              <a:extLst>
                <a:ext uri="{FF2B5EF4-FFF2-40B4-BE49-F238E27FC236}">
                  <a16:creationId xmlns:a16="http://schemas.microsoft.com/office/drawing/2014/main" id="{F6ED3912-5A32-9E7E-58CE-6248A0AE3107}"/>
                </a:ext>
              </a:extLst>
            </p:cNvPr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5">
              <a:extLst>
                <a:ext uri="{FF2B5EF4-FFF2-40B4-BE49-F238E27FC236}">
                  <a16:creationId xmlns:a16="http://schemas.microsoft.com/office/drawing/2014/main" id="{3576EE1C-C2D8-C085-B0C2-3FED5C6CCB90}"/>
                </a:ext>
              </a:extLst>
            </p:cNvPr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3" name="Google Shape;1573;p45">
            <a:extLst>
              <a:ext uri="{FF2B5EF4-FFF2-40B4-BE49-F238E27FC236}">
                <a16:creationId xmlns:a16="http://schemas.microsoft.com/office/drawing/2014/main" id="{0829A12C-F664-4006-138B-5418E7734645}"/>
              </a:ext>
            </a:extLst>
          </p:cNvPr>
          <p:cNvGrpSpPr/>
          <p:nvPr/>
        </p:nvGrpSpPr>
        <p:grpSpPr>
          <a:xfrm>
            <a:off x="4032434" y="1177493"/>
            <a:ext cx="352103" cy="352103"/>
            <a:chOff x="1819576" y="1511679"/>
            <a:chExt cx="352103" cy="352103"/>
          </a:xfrm>
        </p:grpSpPr>
        <p:sp>
          <p:nvSpPr>
            <p:cNvPr id="1574" name="Google Shape;1574;p45">
              <a:extLst>
                <a:ext uri="{FF2B5EF4-FFF2-40B4-BE49-F238E27FC236}">
                  <a16:creationId xmlns:a16="http://schemas.microsoft.com/office/drawing/2014/main" id="{FDBC5532-E7CB-08B0-E25D-2DA0B3240DC1}"/>
                </a:ext>
              </a:extLst>
            </p:cNvPr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5">
              <a:extLst>
                <a:ext uri="{FF2B5EF4-FFF2-40B4-BE49-F238E27FC236}">
                  <a16:creationId xmlns:a16="http://schemas.microsoft.com/office/drawing/2014/main" id="{B237C42D-1D2A-5705-D4E4-8F7CAB53ADAC}"/>
                </a:ext>
              </a:extLst>
            </p:cNvPr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5">
              <a:extLst>
                <a:ext uri="{FF2B5EF4-FFF2-40B4-BE49-F238E27FC236}">
                  <a16:creationId xmlns:a16="http://schemas.microsoft.com/office/drawing/2014/main" id="{5183CF73-549A-83D2-C7F2-D7D4769AB40F}"/>
                </a:ext>
              </a:extLst>
            </p:cNvPr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5">
              <a:extLst>
                <a:ext uri="{FF2B5EF4-FFF2-40B4-BE49-F238E27FC236}">
                  <a16:creationId xmlns:a16="http://schemas.microsoft.com/office/drawing/2014/main" id="{10E0599D-D376-5511-025D-6459F39CA6A3}"/>
                </a:ext>
              </a:extLst>
            </p:cNvPr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Arrow: Left-Right-Up 34">
            <a:extLst>
              <a:ext uri="{FF2B5EF4-FFF2-40B4-BE49-F238E27FC236}">
                <a16:creationId xmlns:a16="http://schemas.microsoft.com/office/drawing/2014/main" id="{32846940-7CBB-2560-86D6-D2E2ECCC7FD4}"/>
              </a:ext>
            </a:extLst>
          </p:cNvPr>
          <p:cNvSpPr/>
          <p:nvPr/>
        </p:nvSpPr>
        <p:spPr>
          <a:xfrm>
            <a:off x="3974019" y="1864863"/>
            <a:ext cx="447302" cy="332343"/>
          </a:xfrm>
          <a:prstGeom prst="leftRightUpArrow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oogle Shape;1540;p45">
            <a:extLst>
              <a:ext uri="{FF2B5EF4-FFF2-40B4-BE49-F238E27FC236}">
                <a16:creationId xmlns:a16="http://schemas.microsoft.com/office/drawing/2014/main" id="{7B3F98E7-EC4D-70F9-7B70-F143DB244369}"/>
              </a:ext>
            </a:extLst>
          </p:cNvPr>
          <p:cNvGrpSpPr/>
          <p:nvPr/>
        </p:nvGrpSpPr>
        <p:grpSpPr>
          <a:xfrm>
            <a:off x="2790091" y="3149987"/>
            <a:ext cx="3768058" cy="874431"/>
            <a:chOff x="2683193" y="2808733"/>
            <a:chExt cx="3768058" cy="874431"/>
          </a:xfrm>
        </p:grpSpPr>
        <p:sp>
          <p:nvSpPr>
            <p:cNvPr id="57" name="Google Shape;1542;p45">
              <a:extLst>
                <a:ext uri="{FF2B5EF4-FFF2-40B4-BE49-F238E27FC236}">
                  <a16:creationId xmlns:a16="http://schemas.microsoft.com/office/drawing/2014/main" id="{0E763CFF-27B6-01C9-BF51-0D07FD680A87}"/>
                </a:ext>
              </a:extLst>
            </p:cNvPr>
            <p:cNvSpPr/>
            <p:nvPr/>
          </p:nvSpPr>
          <p:spPr>
            <a:xfrm>
              <a:off x="2683193" y="2902412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chemeClr val="accent6"/>
                  </a:solidFill>
                  <a:latin typeface="Fira Sans Extra Condensed Medium"/>
                  <a:sym typeface="Fira Sans Extra Condensed Medium"/>
                </a:rPr>
                <a:t>04</a:t>
              </a:r>
              <a:endParaRPr sz="1200" dirty="0">
                <a:solidFill>
                  <a:schemeClr val="accent6"/>
                </a:solidFill>
              </a:endParaRPr>
            </a:p>
          </p:txBody>
        </p:sp>
        <p:sp>
          <p:nvSpPr>
            <p:cNvPr id="58" name="Google Shape;1543;p45">
              <a:extLst>
                <a:ext uri="{FF2B5EF4-FFF2-40B4-BE49-F238E27FC236}">
                  <a16:creationId xmlns:a16="http://schemas.microsoft.com/office/drawing/2014/main" id="{A02541C3-169B-F4ED-3454-980E38B59825}"/>
                </a:ext>
              </a:extLst>
            </p:cNvPr>
            <p:cNvSpPr/>
            <p:nvPr/>
          </p:nvSpPr>
          <p:spPr>
            <a:xfrm>
              <a:off x="3619613" y="2808733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9" name="Google Shape;1544;p45">
              <a:extLst>
                <a:ext uri="{FF2B5EF4-FFF2-40B4-BE49-F238E27FC236}">
                  <a16:creationId xmlns:a16="http://schemas.microsoft.com/office/drawing/2014/main" id="{FC153946-D021-74F7-1799-F751AF5F3C20}"/>
                </a:ext>
              </a:extLst>
            </p:cNvPr>
            <p:cNvSpPr/>
            <p:nvPr/>
          </p:nvSpPr>
          <p:spPr>
            <a:xfrm>
              <a:off x="4704575" y="2902413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</a:rPr>
                <a:t>ERD with 3NF</a:t>
              </a:r>
              <a:endParaRPr lang="en-US"/>
            </a:p>
          </p:txBody>
        </p:sp>
      </p:grpSp>
      <p:grpSp>
        <p:nvGrpSpPr>
          <p:cNvPr id="1482" name="Google Shape;1540;p45">
            <a:extLst>
              <a:ext uri="{FF2B5EF4-FFF2-40B4-BE49-F238E27FC236}">
                <a16:creationId xmlns:a16="http://schemas.microsoft.com/office/drawing/2014/main" id="{82D8F903-1CC8-158F-011F-0C25BAA5E722}"/>
              </a:ext>
            </a:extLst>
          </p:cNvPr>
          <p:cNvGrpSpPr/>
          <p:nvPr/>
        </p:nvGrpSpPr>
        <p:grpSpPr>
          <a:xfrm>
            <a:off x="2794203" y="3972289"/>
            <a:ext cx="3759835" cy="874431"/>
            <a:chOff x="2674970" y="2808733"/>
            <a:chExt cx="3759835" cy="874431"/>
          </a:xfrm>
        </p:grpSpPr>
        <p:sp>
          <p:nvSpPr>
            <p:cNvPr id="1483" name="Google Shape;1542;p45">
              <a:extLst>
                <a:ext uri="{FF2B5EF4-FFF2-40B4-BE49-F238E27FC236}">
                  <a16:creationId xmlns:a16="http://schemas.microsoft.com/office/drawing/2014/main" id="{75E87137-6EE7-A517-A7AF-98CEDEC4F0A8}"/>
                </a:ext>
              </a:extLst>
            </p:cNvPr>
            <p:cNvSpPr/>
            <p:nvPr/>
          </p:nvSpPr>
          <p:spPr>
            <a:xfrm>
              <a:off x="2674970" y="2864220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rgbClr val="00B0F0"/>
                  </a:solidFill>
                  <a:latin typeface="Fira Sans Extra Condensed Medium"/>
                  <a:sym typeface="Fira Sans Extra Condensed Medium"/>
                </a:rPr>
                <a:t>05</a:t>
              </a:r>
              <a:endParaRPr sz="1200" dirty="0">
                <a:solidFill>
                  <a:srgbClr val="00B0F0"/>
                </a:solidFill>
              </a:endParaRPr>
            </a:p>
          </p:txBody>
        </p:sp>
        <p:sp>
          <p:nvSpPr>
            <p:cNvPr id="1484" name="Google Shape;1543;p45">
              <a:extLst>
                <a:ext uri="{FF2B5EF4-FFF2-40B4-BE49-F238E27FC236}">
                  <a16:creationId xmlns:a16="http://schemas.microsoft.com/office/drawing/2014/main" id="{4EDAF8CC-4B07-02C6-5C51-C1878116ADDA}"/>
                </a:ext>
              </a:extLst>
            </p:cNvPr>
            <p:cNvSpPr/>
            <p:nvPr/>
          </p:nvSpPr>
          <p:spPr>
            <a:xfrm>
              <a:off x="3603167" y="2808733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85" name="Google Shape;1544;p45">
              <a:extLst>
                <a:ext uri="{FF2B5EF4-FFF2-40B4-BE49-F238E27FC236}">
                  <a16:creationId xmlns:a16="http://schemas.microsoft.com/office/drawing/2014/main" id="{94D3536D-0185-AF67-CF97-BA8874A47484}"/>
                </a:ext>
              </a:extLst>
            </p:cNvPr>
            <p:cNvSpPr/>
            <p:nvPr/>
          </p:nvSpPr>
          <p:spPr>
            <a:xfrm>
              <a:off x="4688129" y="2861297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00B0F0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</a:rPr>
                <a:t>Data Analysis</a:t>
              </a:r>
              <a:endParaRPr lang="en-US"/>
            </a:p>
          </p:txBody>
        </p:sp>
      </p:grpSp>
      <p:sp>
        <p:nvSpPr>
          <p:cNvPr id="1500" name="Arrow: Quad 1499">
            <a:extLst>
              <a:ext uri="{FF2B5EF4-FFF2-40B4-BE49-F238E27FC236}">
                <a16:creationId xmlns:a16="http://schemas.microsoft.com/office/drawing/2014/main" id="{5A956C0D-0B8B-3DF3-EB1A-7B4115B19CAB}"/>
              </a:ext>
            </a:extLst>
          </p:cNvPr>
          <p:cNvSpPr/>
          <p:nvPr/>
        </p:nvSpPr>
        <p:spPr>
          <a:xfrm>
            <a:off x="3948518" y="3453718"/>
            <a:ext cx="490395" cy="379972"/>
          </a:xfrm>
          <a:prstGeom prst="quadArrow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" name="Google Shape;142;p16">
            <a:extLst>
              <a:ext uri="{FF2B5EF4-FFF2-40B4-BE49-F238E27FC236}">
                <a16:creationId xmlns:a16="http://schemas.microsoft.com/office/drawing/2014/main" id="{04E7A179-78E9-C372-8FC7-5359FB3F5FFD}"/>
              </a:ext>
            </a:extLst>
          </p:cNvPr>
          <p:cNvSpPr/>
          <p:nvPr/>
        </p:nvSpPr>
        <p:spPr>
          <a:xfrm>
            <a:off x="4000944" y="4305425"/>
            <a:ext cx="370748" cy="287006"/>
          </a:xfrm>
          <a:custGeom>
            <a:avLst/>
            <a:gdLst/>
            <a:ahLst/>
            <a:cxnLst/>
            <a:rect l="l" t="t" r="r" b="b"/>
            <a:pathLst>
              <a:path w="11800" h="7359" extrusionOk="0">
                <a:moveTo>
                  <a:pt x="3180" y="3298"/>
                </a:moveTo>
                <a:lnTo>
                  <a:pt x="3180" y="7001"/>
                </a:lnTo>
                <a:lnTo>
                  <a:pt x="1691" y="7001"/>
                </a:lnTo>
                <a:lnTo>
                  <a:pt x="1691" y="3298"/>
                </a:lnTo>
                <a:close/>
                <a:moveTo>
                  <a:pt x="6680" y="2370"/>
                </a:moveTo>
                <a:lnTo>
                  <a:pt x="6680" y="7001"/>
                </a:lnTo>
                <a:lnTo>
                  <a:pt x="5192" y="7001"/>
                </a:lnTo>
                <a:lnTo>
                  <a:pt x="5192" y="2370"/>
                </a:lnTo>
                <a:close/>
                <a:moveTo>
                  <a:pt x="10180" y="345"/>
                </a:moveTo>
                <a:lnTo>
                  <a:pt x="10180" y="7001"/>
                </a:lnTo>
                <a:lnTo>
                  <a:pt x="8692" y="7001"/>
                </a:lnTo>
                <a:lnTo>
                  <a:pt x="8692" y="345"/>
                </a:lnTo>
                <a:close/>
                <a:moveTo>
                  <a:pt x="8502" y="0"/>
                </a:moveTo>
                <a:cubicBezTo>
                  <a:pt x="8406" y="0"/>
                  <a:pt x="8323" y="84"/>
                  <a:pt x="8323" y="179"/>
                </a:cubicBezTo>
                <a:lnTo>
                  <a:pt x="8323" y="7001"/>
                </a:lnTo>
                <a:lnTo>
                  <a:pt x="7013" y="7001"/>
                </a:lnTo>
                <a:lnTo>
                  <a:pt x="7013" y="2203"/>
                </a:lnTo>
                <a:cubicBezTo>
                  <a:pt x="7013" y="2120"/>
                  <a:pt x="6930" y="2024"/>
                  <a:pt x="6835" y="2024"/>
                </a:cubicBezTo>
                <a:lnTo>
                  <a:pt x="4989" y="2024"/>
                </a:lnTo>
                <a:cubicBezTo>
                  <a:pt x="4894" y="2024"/>
                  <a:pt x="4811" y="2108"/>
                  <a:pt x="4811" y="2203"/>
                </a:cubicBezTo>
                <a:lnTo>
                  <a:pt x="4811" y="7001"/>
                </a:lnTo>
                <a:lnTo>
                  <a:pt x="3501" y="7001"/>
                </a:lnTo>
                <a:lnTo>
                  <a:pt x="3501" y="3132"/>
                </a:lnTo>
                <a:cubicBezTo>
                  <a:pt x="3501" y="3036"/>
                  <a:pt x="3418" y="2953"/>
                  <a:pt x="3322" y="2953"/>
                </a:cubicBezTo>
                <a:lnTo>
                  <a:pt x="1477" y="2953"/>
                </a:lnTo>
                <a:cubicBezTo>
                  <a:pt x="1382" y="2953"/>
                  <a:pt x="1298" y="3024"/>
                  <a:pt x="1298" y="3132"/>
                </a:cubicBezTo>
                <a:lnTo>
                  <a:pt x="1298" y="7001"/>
                </a:lnTo>
                <a:lnTo>
                  <a:pt x="179" y="7001"/>
                </a:lnTo>
                <a:cubicBezTo>
                  <a:pt x="84" y="7001"/>
                  <a:pt x="1" y="7073"/>
                  <a:pt x="1" y="7180"/>
                </a:cubicBezTo>
                <a:cubicBezTo>
                  <a:pt x="1" y="7287"/>
                  <a:pt x="72" y="7358"/>
                  <a:pt x="179" y="7358"/>
                </a:cubicBezTo>
                <a:lnTo>
                  <a:pt x="11597" y="7358"/>
                </a:lnTo>
                <a:cubicBezTo>
                  <a:pt x="11681" y="7358"/>
                  <a:pt x="11776" y="7287"/>
                  <a:pt x="11776" y="7180"/>
                </a:cubicBezTo>
                <a:cubicBezTo>
                  <a:pt x="11800" y="7073"/>
                  <a:pt x="11728" y="7001"/>
                  <a:pt x="11633" y="7001"/>
                </a:cubicBezTo>
                <a:lnTo>
                  <a:pt x="10526" y="7001"/>
                </a:lnTo>
                <a:lnTo>
                  <a:pt x="10526" y="179"/>
                </a:lnTo>
                <a:cubicBezTo>
                  <a:pt x="10526" y="95"/>
                  <a:pt x="10442" y="0"/>
                  <a:pt x="103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43;p16">
            <a:extLst>
              <a:ext uri="{FF2B5EF4-FFF2-40B4-BE49-F238E27FC236}">
                <a16:creationId xmlns:a16="http://schemas.microsoft.com/office/drawing/2014/main" id="{595CD5C0-0EC4-680B-DD35-6FCCA125E427}"/>
              </a:ext>
            </a:extLst>
          </p:cNvPr>
          <p:cNvSpPr/>
          <p:nvPr/>
        </p:nvSpPr>
        <p:spPr>
          <a:xfrm>
            <a:off x="3973172" y="4202136"/>
            <a:ext cx="378091" cy="207505"/>
          </a:xfrm>
          <a:custGeom>
            <a:avLst/>
            <a:gdLst/>
            <a:ahLst/>
            <a:cxnLst/>
            <a:rect l="l" t="t" r="r" b="b"/>
            <a:pathLst>
              <a:path w="11241" h="6789" extrusionOk="0">
                <a:moveTo>
                  <a:pt x="10668" y="0"/>
                </a:moveTo>
                <a:cubicBezTo>
                  <a:pt x="10653" y="0"/>
                  <a:pt x="10637" y="1"/>
                  <a:pt x="10621" y="2"/>
                </a:cubicBezTo>
                <a:lnTo>
                  <a:pt x="9145" y="181"/>
                </a:lnTo>
                <a:cubicBezTo>
                  <a:pt x="8847" y="216"/>
                  <a:pt x="8633" y="490"/>
                  <a:pt x="8669" y="788"/>
                </a:cubicBezTo>
                <a:cubicBezTo>
                  <a:pt x="8691" y="1064"/>
                  <a:pt x="8938" y="1268"/>
                  <a:pt x="9211" y="1268"/>
                </a:cubicBezTo>
                <a:cubicBezTo>
                  <a:pt x="9232" y="1268"/>
                  <a:pt x="9254" y="1267"/>
                  <a:pt x="9276" y="1264"/>
                </a:cubicBezTo>
                <a:lnTo>
                  <a:pt x="9395" y="1252"/>
                </a:lnTo>
                <a:lnTo>
                  <a:pt x="9395" y="1252"/>
                </a:lnTo>
                <a:cubicBezTo>
                  <a:pt x="7597" y="3348"/>
                  <a:pt x="5442" y="4443"/>
                  <a:pt x="3918" y="4979"/>
                </a:cubicBezTo>
                <a:cubicBezTo>
                  <a:pt x="2025" y="5657"/>
                  <a:pt x="561" y="5717"/>
                  <a:pt x="537" y="5717"/>
                </a:cubicBezTo>
                <a:cubicBezTo>
                  <a:pt x="239" y="5729"/>
                  <a:pt x="1" y="5967"/>
                  <a:pt x="25" y="6265"/>
                </a:cubicBezTo>
                <a:cubicBezTo>
                  <a:pt x="37" y="6562"/>
                  <a:pt x="275" y="6789"/>
                  <a:pt x="561" y="6789"/>
                </a:cubicBezTo>
                <a:lnTo>
                  <a:pt x="572" y="6789"/>
                </a:lnTo>
                <a:cubicBezTo>
                  <a:pt x="632" y="6789"/>
                  <a:pt x="2192" y="6729"/>
                  <a:pt x="4263" y="6003"/>
                </a:cubicBezTo>
                <a:cubicBezTo>
                  <a:pt x="5418" y="5586"/>
                  <a:pt x="6514" y="5050"/>
                  <a:pt x="7490" y="4383"/>
                </a:cubicBezTo>
                <a:cubicBezTo>
                  <a:pt x="7561" y="4324"/>
                  <a:pt x="7597" y="4217"/>
                  <a:pt x="7538" y="4145"/>
                </a:cubicBezTo>
                <a:cubicBezTo>
                  <a:pt x="7501" y="4093"/>
                  <a:pt x="7445" y="4065"/>
                  <a:pt x="7391" y="4065"/>
                </a:cubicBezTo>
                <a:cubicBezTo>
                  <a:pt x="7358" y="4065"/>
                  <a:pt x="7326" y="4075"/>
                  <a:pt x="7299" y="4098"/>
                </a:cubicBezTo>
                <a:cubicBezTo>
                  <a:pt x="6335" y="4753"/>
                  <a:pt x="5275" y="5288"/>
                  <a:pt x="4144" y="5693"/>
                </a:cubicBezTo>
                <a:cubicBezTo>
                  <a:pt x="2132" y="6408"/>
                  <a:pt x="632" y="6467"/>
                  <a:pt x="561" y="6467"/>
                </a:cubicBezTo>
                <a:cubicBezTo>
                  <a:pt x="453" y="6467"/>
                  <a:pt x="358" y="6372"/>
                  <a:pt x="358" y="6265"/>
                </a:cubicBezTo>
                <a:cubicBezTo>
                  <a:pt x="358" y="6169"/>
                  <a:pt x="441" y="6074"/>
                  <a:pt x="561" y="6062"/>
                </a:cubicBezTo>
                <a:cubicBezTo>
                  <a:pt x="572" y="6062"/>
                  <a:pt x="2085" y="6003"/>
                  <a:pt x="4037" y="5300"/>
                </a:cubicBezTo>
                <a:cubicBezTo>
                  <a:pt x="5680" y="4717"/>
                  <a:pt x="8026" y="3514"/>
                  <a:pt x="9943" y="1133"/>
                </a:cubicBezTo>
                <a:cubicBezTo>
                  <a:pt x="10035" y="1018"/>
                  <a:pt x="9949" y="847"/>
                  <a:pt x="9813" y="847"/>
                </a:cubicBezTo>
                <a:cubicBezTo>
                  <a:pt x="9809" y="847"/>
                  <a:pt x="9804" y="847"/>
                  <a:pt x="9800" y="847"/>
                </a:cubicBezTo>
                <a:lnTo>
                  <a:pt x="9252" y="931"/>
                </a:lnTo>
                <a:cubicBezTo>
                  <a:pt x="9244" y="932"/>
                  <a:pt x="9236" y="932"/>
                  <a:pt x="9228" y="932"/>
                </a:cubicBezTo>
                <a:cubicBezTo>
                  <a:pt x="9139" y="932"/>
                  <a:pt x="9049" y="874"/>
                  <a:pt x="9038" y="776"/>
                </a:cubicBezTo>
                <a:cubicBezTo>
                  <a:pt x="9014" y="657"/>
                  <a:pt x="9085" y="550"/>
                  <a:pt x="9204" y="538"/>
                </a:cubicBezTo>
                <a:lnTo>
                  <a:pt x="10681" y="359"/>
                </a:lnTo>
                <a:cubicBezTo>
                  <a:pt x="10688" y="358"/>
                  <a:pt x="10696" y="358"/>
                  <a:pt x="10703" y="358"/>
                </a:cubicBezTo>
                <a:cubicBezTo>
                  <a:pt x="10812" y="358"/>
                  <a:pt x="10895" y="438"/>
                  <a:pt x="10895" y="550"/>
                </a:cubicBezTo>
                <a:lnTo>
                  <a:pt x="10895" y="2026"/>
                </a:lnTo>
                <a:cubicBezTo>
                  <a:pt x="10895" y="2133"/>
                  <a:pt x="10812" y="2217"/>
                  <a:pt x="10705" y="2217"/>
                </a:cubicBezTo>
                <a:cubicBezTo>
                  <a:pt x="10598" y="2217"/>
                  <a:pt x="10514" y="2133"/>
                  <a:pt x="10514" y="2026"/>
                </a:cubicBezTo>
                <a:lnTo>
                  <a:pt x="10514" y="1586"/>
                </a:lnTo>
                <a:cubicBezTo>
                  <a:pt x="10514" y="1502"/>
                  <a:pt x="10467" y="1443"/>
                  <a:pt x="10407" y="1419"/>
                </a:cubicBezTo>
                <a:cubicBezTo>
                  <a:pt x="10387" y="1409"/>
                  <a:pt x="10368" y="1405"/>
                  <a:pt x="10349" y="1405"/>
                </a:cubicBezTo>
                <a:cubicBezTo>
                  <a:pt x="10298" y="1405"/>
                  <a:pt x="10251" y="1435"/>
                  <a:pt x="10217" y="1478"/>
                </a:cubicBezTo>
                <a:cubicBezTo>
                  <a:pt x="9574" y="2264"/>
                  <a:pt x="8835" y="2979"/>
                  <a:pt x="8026" y="3610"/>
                </a:cubicBezTo>
                <a:cubicBezTo>
                  <a:pt x="7954" y="3669"/>
                  <a:pt x="7942" y="3764"/>
                  <a:pt x="8002" y="3848"/>
                </a:cubicBezTo>
                <a:cubicBezTo>
                  <a:pt x="8036" y="3888"/>
                  <a:pt x="8081" y="3910"/>
                  <a:pt x="8129" y="3910"/>
                </a:cubicBezTo>
                <a:cubicBezTo>
                  <a:pt x="8166" y="3910"/>
                  <a:pt x="8204" y="3897"/>
                  <a:pt x="8240" y="3872"/>
                </a:cubicBezTo>
                <a:cubicBezTo>
                  <a:pt x="8931" y="3336"/>
                  <a:pt x="9585" y="2729"/>
                  <a:pt x="10169" y="2062"/>
                </a:cubicBezTo>
                <a:cubicBezTo>
                  <a:pt x="10181" y="2336"/>
                  <a:pt x="10419" y="2574"/>
                  <a:pt x="10705" y="2574"/>
                </a:cubicBezTo>
                <a:cubicBezTo>
                  <a:pt x="11002" y="2574"/>
                  <a:pt x="11240" y="2336"/>
                  <a:pt x="11240" y="2038"/>
                </a:cubicBezTo>
                <a:lnTo>
                  <a:pt x="11240" y="573"/>
                </a:lnTo>
                <a:cubicBezTo>
                  <a:pt x="11240" y="395"/>
                  <a:pt x="11169" y="240"/>
                  <a:pt x="11050" y="133"/>
                </a:cubicBezTo>
                <a:cubicBezTo>
                  <a:pt x="10943" y="47"/>
                  <a:pt x="10807" y="0"/>
                  <a:pt x="106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18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6"/>
          <p:cNvCxnSpPr/>
          <p:nvPr/>
        </p:nvCxnSpPr>
        <p:spPr>
          <a:xfrm>
            <a:off x="1654650" y="3089200"/>
            <a:ext cx="584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Streaming Platform Overview</a:t>
            </a:r>
          </a:p>
        </p:txBody>
      </p:sp>
      <p:grpSp>
        <p:nvGrpSpPr>
          <p:cNvPr id="96" name="Google Shape;96;p16"/>
          <p:cNvGrpSpPr/>
          <p:nvPr/>
        </p:nvGrpSpPr>
        <p:grpSpPr>
          <a:xfrm>
            <a:off x="710275" y="1333888"/>
            <a:ext cx="1948544" cy="3529509"/>
            <a:chOff x="710275" y="1333888"/>
            <a:chExt cx="1948544" cy="3529509"/>
          </a:xfrm>
        </p:grpSpPr>
        <p:sp>
          <p:nvSpPr>
            <p:cNvPr id="97" name="Google Shape;97;p16"/>
            <p:cNvSpPr/>
            <p:nvPr/>
          </p:nvSpPr>
          <p:spPr>
            <a:xfrm>
              <a:off x="10606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1143175" y="1416388"/>
              <a:ext cx="1018800" cy="101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570075" y="2583338"/>
              <a:ext cx="165000" cy="1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604125" y="2813988"/>
              <a:ext cx="96900" cy="9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5435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578475" y="3011383"/>
              <a:ext cx="148200" cy="14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7102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On-Demand entertainment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774219" y="4200609"/>
              <a:ext cx="1884600" cy="662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ea typeface="Roboto"/>
                  <a:sym typeface="Roboto"/>
                </a:rPr>
                <a:t>Users can watch movies, TV shows, and exclusive content anytime, anywhere</a:t>
              </a:r>
              <a:endParaRPr lang="en-US" dirty="0"/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6549175" y="1333888"/>
            <a:ext cx="1896589" cy="3465565"/>
            <a:chOff x="6549175" y="1333888"/>
            <a:chExt cx="1896589" cy="3465565"/>
          </a:xfrm>
        </p:grpSpPr>
        <p:sp>
          <p:nvSpPr>
            <p:cNvPr id="106" name="Google Shape;106;p16"/>
            <p:cNvSpPr/>
            <p:nvPr/>
          </p:nvSpPr>
          <p:spPr>
            <a:xfrm>
              <a:off x="68995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6982075" y="1416388"/>
              <a:ext cx="1018800" cy="101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408975" y="2583338"/>
              <a:ext cx="165000" cy="1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7443025" y="2813988"/>
              <a:ext cx="96900" cy="9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73824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7417375" y="3011383"/>
              <a:ext cx="148200" cy="14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65491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700" dirty="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Scalability &amp; Security</a:t>
              </a:r>
              <a:endParaRPr sz="17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6561164" y="4264553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ea typeface="Roboto"/>
                  <a:sym typeface="Roboto"/>
                </a:rPr>
                <a:t>The database must support a growing user base while ensuring data integrity and security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 </a:t>
              </a:r>
              <a:endParaRPr lang="en-US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2656575" y="1333888"/>
            <a:ext cx="1884600" cy="3401621"/>
            <a:chOff x="2656575" y="1333888"/>
            <a:chExt cx="1884600" cy="3401621"/>
          </a:xfrm>
        </p:grpSpPr>
        <p:sp>
          <p:nvSpPr>
            <p:cNvPr id="115" name="Google Shape;115;p16"/>
            <p:cNvSpPr/>
            <p:nvPr/>
          </p:nvSpPr>
          <p:spPr>
            <a:xfrm>
              <a:off x="30069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3089475" y="1416388"/>
              <a:ext cx="1018800" cy="1018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3516375" y="2583338"/>
              <a:ext cx="165000" cy="1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3550425" y="2813988"/>
              <a:ext cx="96900" cy="9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34898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3524775" y="3011383"/>
              <a:ext cx="148200" cy="14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26565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Subscription-Based Model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656575" y="4200609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ea typeface="Roboto"/>
                  <a:sym typeface="Roboto"/>
                </a:rPr>
                <a:t>Platforms offer different plans with varying features and pricing.</a:t>
              </a:r>
              <a:endParaRPr lang="en-US" dirty="0"/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4602875" y="1333888"/>
            <a:ext cx="1884600" cy="3465565"/>
            <a:chOff x="4602875" y="1333888"/>
            <a:chExt cx="1884600" cy="3465565"/>
          </a:xfrm>
        </p:grpSpPr>
        <p:sp>
          <p:nvSpPr>
            <p:cNvPr id="124" name="Google Shape;124;p16"/>
            <p:cNvSpPr/>
            <p:nvPr/>
          </p:nvSpPr>
          <p:spPr>
            <a:xfrm>
              <a:off x="49532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5035775" y="1416388"/>
              <a:ext cx="1018800" cy="101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5462675" y="2583338"/>
              <a:ext cx="165000" cy="1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5496725" y="2813988"/>
              <a:ext cx="96900" cy="9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5436125" y="2976538"/>
              <a:ext cx="218100" cy="218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5471075" y="3011383"/>
              <a:ext cx="148200" cy="14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46028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Content &amp; User Management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4602875" y="4264553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>
                  <a:ea typeface="Roboto"/>
                  <a:sym typeface="Roboto"/>
                </a:rPr>
                <a:t>Efficient handling of user accounts, subscriptions, payments, and content metadata.</a:t>
              </a:r>
              <a:endParaRPr lang="en-US"/>
            </a:p>
          </p:txBody>
        </p:sp>
      </p:grpSp>
      <p:sp>
        <p:nvSpPr>
          <p:cNvPr id="132" name="Google Shape;132;p16"/>
          <p:cNvSpPr/>
          <p:nvPr/>
        </p:nvSpPr>
        <p:spPr>
          <a:xfrm>
            <a:off x="1393231" y="1667553"/>
            <a:ext cx="518689" cy="516495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3362494" y="1639483"/>
            <a:ext cx="464774" cy="500698"/>
            <a:chOff x="6896644" y="3216007"/>
            <a:chExt cx="322917" cy="347876"/>
          </a:xfrm>
        </p:grpSpPr>
        <p:sp>
          <p:nvSpPr>
            <p:cNvPr id="134" name="Google Shape;134;p16"/>
            <p:cNvSpPr/>
            <p:nvPr/>
          </p:nvSpPr>
          <p:spPr>
            <a:xfrm>
              <a:off x="6896644" y="3216007"/>
              <a:ext cx="301387" cy="347876"/>
            </a:xfrm>
            <a:custGeom>
              <a:avLst/>
              <a:gdLst/>
              <a:ahLst/>
              <a:cxnLst/>
              <a:rect l="l" t="t" r="r" b="b"/>
              <a:pathLst>
                <a:path w="9491" h="10955" extrusionOk="0">
                  <a:moveTo>
                    <a:pt x="5192" y="382"/>
                  </a:moveTo>
                  <a:lnTo>
                    <a:pt x="6490" y="1679"/>
                  </a:lnTo>
                  <a:lnTo>
                    <a:pt x="3906" y="1679"/>
                  </a:lnTo>
                  <a:lnTo>
                    <a:pt x="5192" y="382"/>
                  </a:lnTo>
                  <a:close/>
                  <a:moveTo>
                    <a:pt x="5186" y="1"/>
                  </a:moveTo>
                  <a:cubicBezTo>
                    <a:pt x="5144" y="1"/>
                    <a:pt x="5103" y="13"/>
                    <a:pt x="5073" y="36"/>
                  </a:cubicBezTo>
                  <a:lnTo>
                    <a:pt x="3442" y="1679"/>
                  </a:lnTo>
                  <a:lnTo>
                    <a:pt x="870" y="1679"/>
                  </a:lnTo>
                  <a:cubicBezTo>
                    <a:pt x="775" y="1679"/>
                    <a:pt x="703" y="1751"/>
                    <a:pt x="703" y="1846"/>
                  </a:cubicBezTo>
                  <a:lnTo>
                    <a:pt x="703" y="4501"/>
                  </a:lnTo>
                  <a:lnTo>
                    <a:pt x="168" y="4501"/>
                  </a:lnTo>
                  <a:cubicBezTo>
                    <a:pt x="72" y="4501"/>
                    <a:pt x="1" y="4585"/>
                    <a:pt x="1" y="4668"/>
                  </a:cubicBezTo>
                  <a:lnTo>
                    <a:pt x="1" y="10788"/>
                  </a:lnTo>
                  <a:cubicBezTo>
                    <a:pt x="1" y="10883"/>
                    <a:pt x="72" y="10954"/>
                    <a:pt x="168" y="10954"/>
                  </a:cubicBezTo>
                  <a:lnTo>
                    <a:pt x="1846" y="10954"/>
                  </a:lnTo>
                  <a:cubicBezTo>
                    <a:pt x="1942" y="10954"/>
                    <a:pt x="2013" y="10883"/>
                    <a:pt x="2013" y="10788"/>
                  </a:cubicBezTo>
                  <a:cubicBezTo>
                    <a:pt x="2013" y="10704"/>
                    <a:pt x="1942" y="10621"/>
                    <a:pt x="1846" y="10621"/>
                  </a:cubicBezTo>
                  <a:lnTo>
                    <a:pt x="334" y="10621"/>
                  </a:lnTo>
                  <a:lnTo>
                    <a:pt x="334" y="4989"/>
                  </a:lnTo>
                  <a:lnTo>
                    <a:pt x="1084" y="5537"/>
                  </a:lnTo>
                  <a:cubicBezTo>
                    <a:pt x="1115" y="5554"/>
                    <a:pt x="1147" y="5562"/>
                    <a:pt x="1178" y="5562"/>
                  </a:cubicBezTo>
                  <a:cubicBezTo>
                    <a:pt x="1231" y="5562"/>
                    <a:pt x="1280" y="5539"/>
                    <a:pt x="1311" y="5501"/>
                  </a:cubicBezTo>
                  <a:cubicBezTo>
                    <a:pt x="1358" y="5430"/>
                    <a:pt x="1346" y="5323"/>
                    <a:pt x="1275" y="5287"/>
                  </a:cubicBezTo>
                  <a:lnTo>
                    <a:pt x="1049" y="5096"/>
                  </a:lnTo>
                  <a:lnTo>
                    <a:pt x="1049" y="4692"/>
                  </a:lnTo>
                  <a:lnTo>
                    <a:pt x="1049" y="4668"/>
                  </a:lnTo>
                  <a:lnTo>
                    <a:pt x="1049" y="4656"/>
                  </a:lnTo>
                  <a:lnTo>
                    <a:pt x="1049" y="2013"/>
                  </a:lnTo>
                  <a:lnTo>
                    <a:pt x="9169" y="2013"/>
                  </a:lnTo>
                  <a:lnTo>
                    <a:pt x="9169" y="2620"/>
                  </a:lnTo>
                  <a:cubicBezTo>
                    <a:pt x="9169" y="2703"/>
                    <a:pt x="9240" y="2787"/>
                    <a:pt x="9335" y="2787"/>
                  </a:cubicBezTo>
                  <a:cubicBezTo>
                    <a:pt x="9419" y="2787"/>
                    <a:pt x="9490" y="2703"/>
                    <a:pt x="9490" y="2620"/>
                  </a:cubicBezTo>
                  <a:lnTo>
                    <a:pt x="9490" y="1846"/>
                  </a:lnTo>
                  <a:cubicBezTo>
                    <a:pt x="9466" y="1751"/>
                    <a:pt x="9395" y="1679"/>
                    <a:pt x="9300" y="1679"/>
                  </a:cubicBezTo>
                  <a:lnTo>
                    <a:pt x="6930" y="1679"/>
                  </a:lnTo>
                  <a:lnTo>
                    <a:pt x="5299" y="36"/>
                  </a:lnTo>
                  <a:cubicBezTo>
                    <a:pt x="5269" y="13"/>
                    <a:pt x="5228" y="1"/>
                    <a:pt x="5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954883" y="3306382"/>
              <a:ext cx="42012" cy="41980"/>
            </a:xfrm>
            <a:custGeom>
              <a:avLst/>
              <a:gdLst/>
              <a:ahLst/>
              <a:cxnLst/>
              <a:rect l="l" t="t" r="r" b="b"/>
              <a:pathLst>
                <a:path w="1323" h="1322" extrusionOk="0">
                  <a:moveTo>
                    <a:pt x="1001" y="322"/>
                  </a:moveTo>
                  <a:lnTo>
                    <a:pt x="1001" y="988"/>
                  </a:lnTo>
                  <a:lnTo>
                    <a:pt x="322" y="988"/>
                  </a:lnTo>
                  <a:lnTo>
                    <a:pt x="322" y="322"/>
                  </a:lnTo>
                  <a:close/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155"/>
                  </a:lnTo>
                  <a:cubicBezTo>
                    <a:pt x="1" y="1250"/>
                    <a:pt x="72" y="1322"/>
                    <a:pt x="167" y="1322"/>
                  </a:cubicBezTo>
                  <a:lnTo>
                    <a:pt x="1155" y="1322"/>
                  </a:lnTo>
                  <a:cubicBezTo>
                    <a:pt x="1251" y="1322"/>
                    <a:pt x="1322" y="1250"/>
                    <a:pt x="1322" y="1155"/>
                  </a:cubicBezTo>
                  <a:lnTo>
                    <a:pt x="1322" y="155"/>
                  </a:lnTo>
                  <a:cubicBezTo>
                    <a:pt x="1310" y="72"/>
                    <a:pt x="1239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7013122" y="3306382"/>
              <a:ext cx="32168" cy="10225"/>
            </a:xfrm>
            <a:custGeom>
              <a:avLst/>
              <a:gdLst/>
              <a:ahLst/>
              <a:cxnLst/>
              <a:rect l="l" t="t" r="r" b="b"/>
              <a:pathLst>
                <a:path w="1013" h="32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845" y="322"/>
                  </a:lnTo>
                  <a:cubicBezTo>
                    <a:pt x="929" y="322"/>
                    <a:pt x="1012" y="250"/>
                    <a:pt x="1012" y="155"/>
                  </a:cubicBezTo>
                  <a:cubicBezTo>
                    <a:pt x="1012" y="72"/>
                    <a:pt x="929" y="0"/>
                    <a:pt x="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7013471" y="3333596"/>
              <a:ext cx="105903" cy="10606"/>
            </a:xfrm>
            <a:custGeom>
              <a:avLst/>
              <a:gdLst/>
              <a:ahLst/>
              <a:cxnLst/>
              <a:rect l="l" t="t" r="r" b="b"/>
              <a:pathLst>
                <a:path w="3335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3168" y="334"/>
                  </a:lnTo>
                  <a:cubicBezTo>
                    <a:pt x="3251" y="334"/>
                    <a:pt x="3335" y="250"/>
                    <a:pt x="3335" y="167"/>
                  </a:cubicBezTo>
                  <a:cubicBezTo>
                    <a:pt x="3335" y="60"/>
                    <a:pt x="3263" y="0"/>
                    <a:pt x="3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6966982" y="3375576"/>
              <a:ext cx="63923" cy="10606"/>
            </a:xfrm>
            <a:custGeom>
              <a:avLst/>
              <a:gdLst/>
              <a:ahLst/>
              <a:cxnLst/>
              <a:rect l="l" t="t" r="r" b="b"/>
              <a:pathLst>
                <a:path w="2013" h="334" extrusionOk="0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62"/>
                    <a:pt x="84" y="333"/>
                    <a:pt x="167" y="333"/>
                  </a:cubicBezTo>
                  <a:lnTo>
                    <a:pt x="1846" y="333"/>
                  </a:lnTo>
                  <a:cubicBezTo>
                    <a:pt x="1941" y="333"/>
                    <a:pt x="2013" y="262"/>
                    <a:pt x="2013" y="167"/>
                  </a:cubicBezTo>
                  <a:cubicBezTo>
                    <a:pt x="2013" y="71"/>
                    <a:pt x="1941" y="0"/>
                    <a:pt x="1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6928781" y="3524157"/>
              <a:ext cx="52237" cy="10225"/>
            </a:xfrm>
            <a:custGeom>
              <a:avLst/>
              <a:gdLst/>
              <a:ahLst/>
              <a:cxnLst/>
              <a:rect l="l" t="t" r="r" b="b"/>
              <a:pathLst>
                <a:path w="1645" h="322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1477" y="322"/>
                  </a:lnTo>
                  <a:cubicBezTo>
                    <a:pt x="1561" y="322"/>
                    <a:pt x="1644" y="250"/>
                    <a:pt x="1644" y="167"/>
                  </a:cubicBezTo>
                  <a:cubicBezTo>
                    <a:pt x="1644" y="72"/>
                    <a:pt x="1561" y="0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6945420" y="3314701"/>
              <a:ext cx="274141" cy="248800"/>
            </a:xfrm>
            <a:custGeom>
              <a:avLst/>
              <a:gdLst/>
              <a:ahLst/>
              <a:cxnLst/>
              <a:rect l="l" t="t" r="r" b="b"/>
              <a:pathLst>
                <a:path w="8633" h="7835" extrusionOk="0">
                  <a:moveTo>
                    <a:pt x="5835" y="3274"/>
                  </a:moveTo>
                  <a:lnTo>
                    <a:pt x="5323" y="3632"/>
                  </a:lnTo>
                  <a:lnTo>
                    <a:pt x="1787" y="3632"/>
                  </a:lnTo>
                  <a:lnTo>
                    <a:pt x="1275" y="3274"/>
                  </a:lnTo>
                  <a:close/>
                  <a:moveTo>
                    <a:pt x="4882" y="3965"/>
                  </a:moveTo>
                  <a:lnTo>
                    <a:pt x="4370" y="4322"/>
                  </a:lnTo>
                  <a:lnTo>
                    <a:pt x="2739" y="4322"/>
                  </a:lnTo>
                  <a:lnTo>
                    <a:pt x="2227" y="3965"/>
                  </a:lnTo>
                  <a:close/>
                  <a:moveTo>
                    <a:pt x="3930" y="4632"/>
                  </a:moveTo>
                  <a:lnTo>
                    <a:pt x="3561" y="4894"/>
                  </a:lnTo>
                  <a:lnTo>
                    <a:pt x="3180" y="4632"/>
                  </a:lnTo>
                  <a:close/>
                  <a:moveTo>
                    <a:pt x="7752" y="0"/>
                  </a:moveTo>
                  <a:cubicBezTo>
                    <a:pt x="7668" y="0"/>
                    <a:pt x="7585" y="72"/>
                    <a:pt x="7585" y="167"/>
                  </a:cubicBezTo>
                  <a:lnTo>
                    <a:pt x="7585" y="1560"/>
                  </a:lnTo>
                  <a:lnTo>
                    <a:pt x="7585" y="1977"/>
                  </a:lnTo>
                  <a:lnTo>
                    <a:pt x="6252" y="2929"/>
                  </a:lnTo>
                  <a:lnTo>
                    <a:pt x="799" y="2929"/>
                  </a:lnTo>
                  <a:lnTo>
                    <a:pt x="263" y="2548"/>
                  </a:lnTo>
                  <a:cubicBezTo>
                    <a:pt x="233" y="2528"/>
                    <a:pt x="197" y="2519"/>
                    <a:pt x="162" y="2519"/>
                  </a:cubicBezTo>
                  <a:cubicBezTo>
                    <a:pt x="114" y="2519"/>
                    <a:pt x="69" y="2537"/>
                    <a:pt x="48" y="2572"/>
                  </a:cubicBezTo>
                  <a:cubicBezTo>
                    <a:pt x="1" y="2643"/>
                    <a:pt x="13" y="2750"/>
                    <a:pt x="72" y="2798"/>
                  </a:cubicBezTo>
                  <a:lnTo>
                    <a:pt x="3442" y="5215"/>
                  </a:lnTo>
                  <a:cubicBezTo>
                    <a:pt x="3472" y="5233"/>
                    <a:pt x="3504" y="5242"/>
                    <a:pt x="3537" y="5242"/>
                  </a:cubicBezTo>
                  <a:cubicBezTo>
                    <a:pt x="3570" y="5242"/>
                    <a:pt x="3602" y="5233"/>
                    <a:pt x="3632" y="5215"/>
                  </a:cubicBezTo>
                  <a:lnTo>
                    <a:pt x="8300" y="1858"/>
                  </a:lnTo>
                  <a:lnTo>
                    <a:pt x="8300" y="7501"/>
                  </a:lnTo>
                  <a:lnTo>
                    <a:pt x="941" y="7501"/>
                  </a:lnTo>
                  <a:cubicBezTo>
                    <a:pt x="846" y="7501"/>
                    <a:pt x="775" y="7572"/>
                    <a:pt x="775" y="7668"/>
                  </a:cubicBezTo>
                  <a:cubicBezTo>
                    <a:pt x="775" y="7751"/>
                    <a:pt x="846" y="7834"/>
                    <a:pt x="941" y="7834"/>
                  </a:cubicBezTo>
                  <a:lnTo>
                    <a:pt x="8454" y="7834"/>
                  </a:lnTo>
                  <a:cubicBezTo>
                    <a:pt x="8538" y="7834"/>
                    <a:pt x="8621" y="7751"/>
                    <a:pt x="8621" y="7668"/>
                  </a:cubicBezTo>
                  <a:lnTo>
                    <a:pt x="8621" y="1548"/>
                  </a:lnTo>
                  <a:cubicBezTo>
                    <a:pt x="8625" y="1552"/>
                    <a:pt x="8628" y="1553"/>
                    <a:pt x="8629" y="1553"/>
                  </a:cubicBezTo>
                  <a:cubicBezTo>
                    <a:pt x="8633" y="1553"/>
                    <a:pt x="8633" y="1548"/>
                    <a:pt x="8633" y="1548"/>
                  </a:cubicBezTo>
                  <a:cubicBezTo>
                    <a:pt x="8621" y="1477"/>
                    <a:pt x="8561" y="1417"/>
                    <a:pt x="8466" y="1417"/>
                  </a:cubicBezTo>
                  <a:lnTo>
                    <a:pt x="7919" y="1417"/>
                  </a:lnTo>
                  <a:lnTo>
                    <a:pt x="7919" y="167"/>
                  </a:lnTo>
                  <a:cubicBezTo>
                    <a:pt x="7919" y="72"/>
                    <a:pt x="7847" y="0"/>
                    <a:pt x="7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5275513" y="1640665"/>
            <a:ext cx="539319" cy="538308"/>
            <a:chOff x="1421638" y="4125629"/>
            <a:chExt cx="374709" cy="374006"/>
          </a:xfrm>
        </p:grpSpPr>
        <p:sp>
          <p:nvSpPr>
            <p:cNvPr id="142" name="Google Shape;142;p16"/>
            <p:cNvSpPr/>
            <p:nvPr/>
          </p:nvSpPr>
          <p:spPr>
            <a:xfrm>
              <a:off x="1421638" y="4265950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7217999" y="1673006"/>
            <a:ext cx="546951" cy="505588"/>
            <a:chOff x="7384751" y="4147984"/>
            <a:chExt cx="380012" cy="351274"/>
          </a:xfrm>
        </p:grpSpPr>
        <p:sp>
          <p:nvSpPr>
            <p:cNvPr id="145" name="Google Shape;145;p16"/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2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Benefits of Developing a Database</a:t>
            </a:r>
            <a:endParaRPr lang="en-US" dirty="0"/>
          </a:p>
        </p:txBody>
      </p:sp>
      <p:grpSp>
        <p:nvGrpSpPr>
          <p:cNvPr id="932" name="Google Shape;932;p32"/>
          <p:cNvGrpSpPr/>
          <p:nvPr/>
        </p:nvGrpSpPr>
        <p:grpSpPr>
          <a:xfrm>
            <a:off x="710273" y="1239125"/>
            <a:ext cx="6811571" cy="791050"/>
            <a:chOff x="852325" y="1239125"/>
            <a:chExt cx="6686533" cy="791050"/>
          </a:xfrm>
        </p:grpSpPr>
        <p:sp>
          <p:nvSpPr>
            <p:cNvPr id="933" name="Google Shape;933;p32"/>
            <p:cNvSpPr/>
            <p:nvPr/>
          </p:nvSpPr>
          <p:spPr>
            <a:xfrm>
              <a:off x="852325" y="14783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34" name="Google Shape;934;p32"/>
            <p:cNvSpPr/>
            <p:nvPr/>
          </p:nvSpPr>
          <p:spPr>
            <a:xfrm>
              <a:off x="985350" y="1239125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5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Efficient Subscriber Management</a:t>
              </a:r>
              <a:endParaRPr lang="en-US" sz="1050"/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2857255" y="1284845"/>
              <a:ext cx="4681603" cy="43278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Manages users, profiles, subscriptions, devices, and payments</a:t>
              </a:r>
              <a:endParaRPr lang="en-US" dirty="0"/>
            </a:p>
          </p:txBody>
        </p:sp>
        <p:cxnSp>
          <p:nvCxnSpPr>
            <p:cNvPr id="936" name="Google Shape;936;p32"/>
            <p:cNvCxnSpPr>
              <a:stCxn id="934" idx="3"/>
              <a:endCxn id="935" idx="1"/>
            </p:cNvCxnSpPr>
            <p:nvPr/>
          </p:nvCxnSpPr>
          <p:spPr>
            <a:xfrm>
              <a:off x="2346451" y="1478375"/>
              <a:ext cx="510804" cy="228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37" name="Google Shape;937;p32"/>
          <p:cNvGrpSpPr/>
          <p:nvPr/>
        </p:nvGrpSpPr>
        <p:grpSpPr>
          <a:xfrm>
            <a:off x="1116810" y="1913025"/>
            <a:ext cx="6757257" cy="791050"/>
            <a:chOff x="1251400" y="1913025"/>
            <a:chExt cx="6633215" cy="791050"/>
          </a:xfrm>
        </p:grpSpPr>
        <p:sp>
          <p:nvSpPr>
            <p:cNvPr id="938" name="Google Shape;938;p32"/>
            <p:cNvSpPr/>
            <p:nvPr/>
          </p:nvSpPr>
          <p:spPr>
            <a:xfrm>
              <a:off x="1251400" y="21522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39" name="Google Shape;939;p32"/>
            <p:cNvSpPr/>
            <p:nvPr/>
          </p:nvSpPr>
          <p:spPr>
            <a:xfrm>
              <a:off x="3275943" y="1913050"/>
              <a:ext cx="4608672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200" dirty="0">
                  <a:ea typeface="Roboto"/>
                  <a:sym typeface="Roboto"/>
                </a:rPr>
                <a:t>Stores metadata, tracks licensing, and links actors/directors</a:t>
              </a:r>
              <a:endParaRPr lang="en-US" dirty="0"/>
            </a:p>
          </p:txBody>
        </p:sp>
        <p:sp>
          <p:nvSpPr>
            <p:cNvPr id="940" name="Google Shape;940;p32"/>
            <p:cNvSpPr/>
            <p:nvPr/>
          </p:nvSpPr>
          <p:spPr>
            <a:xfrm>
              <a:off x="1404039" y="1913025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5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Comprehensive Content Cataloging</a:t>
              </a:r>
              <a:endParaRPr lang="en-US" sz="1050" dirty="0"/>
            </a:p>
          </p:txBody>
        </p:sp>
        <p:cxnSp>
          <p:nvCxnSpPr>
            <p:cNvPr id="941" name="Google Shape;941;p32"/>
            <p:cNvCxnSpPr>
              <a:stCxn id="940" idx="3"/>
              <a:endCxn id="939" idx="1"/>
            </p:cNvCxnSpPr>
            <p:nvPr/>
          </p:nvCxnSpPr>
          <p:spPr>
            <a:xfrm>
              <a:off x="2765139" y="2152275"/>
              <a:ext cx="510804" cy="2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42" name="Google Shape;942;p32"/>
          <p:cNvGrpSpPr/>
          <p:nvPr/>
        </p:nvGrpSpPr>
        <p:grpSpPr>
          <a:xfrm>
            <a:off x="1543391" y="2575519"/>
            <a:ext cx="6700041" cy="802456"/>
            <a:chOff x="1670150" y="2575519"/>
            <a:chExt cx="6577051" cy="802456"/>
          </a:xfrm>
        </p:grpSpPr>
        <p:sp>
          <p:nvSpPr>
            <p:cNvPr id="943" name="Google Shape;943;p32"/>
            <p:cNvSpPr/>
            <p:nvPr/>
          </p:nvSpPr>
          <p:spPr>
            <a:xfrm>
              <a:off x="1670150" y="28261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44" name="Google Shape;944;p32"/>
            <p:cNvSpPr/>
            <p:nvPr/>
          </p:nvSpPr>
          <p:spPr>
            <a:xfrm>
              <a:off x="1822728" y="2586950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5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Streaming Analytics</a:t>
              </a:r>
              <a:endParaRPr lang="en-US" sz="1050" dirty="0"/>
            </a:p>
          </p:txBody>
        </p:sp>
        <p:sp>
          <p:nvSpPr>
            <p:cNvPr id="945" name="Google Shape;945;p32"/>
            <p:cNvSpPr/>
            <p:nvPr/>
          </p:nvSpPr>
          <p:spPr>
            <a:xfrm>
              <a:off x="3694632" y="2575519"/>
              <a:ext cx="4552569" cy="48993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Logs watch history, ad views, and user engagement trends.</a:t>
              </a:r>
              <a:endParaRPr lang="en-US" dirty="0"/>
            </a:p>
          </p:txBody>
        </p:sp>
        <p:cxnSp>
          <p:nvCxnSpPr>
            <p:cNvPr id="946" name="Google Shape;946;p32"/>
            <p:cNvCxnSpPr>
              <a:stCxn id="944" idx="3"/>
              <a:endCxn id="945" idx="1"/>
            </p:cNvCxnSpPr>
            <p:nvPr/>
          </p:nvCxnSpPr>
          <p:spPr>
            <a:xfrm flipV="1">
              <a:off x="3183827" y="2820484"/>
              <a:ext cx="510805" cy="5716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47" name="Google Shape;947;p32"/>
          <p:cNvGrpSpPr/>
          <p:nvPr/>
        </p:nvGrpSpPr>
        <p:grpSpPr>
          <a:xfrm>
            <a:off x="1969997" y="3260863"/>
            <a:ext cx="6677095" cy="791012"/>
            <a:chOff x="2088925" y="3260863"/>
            <a:chExt cx="6554526" cy="791012"/>
          </a:xfrm>
        </p:grpSpPr>
        <p:sp>
          <p:nvSpPr>
            <p:cNvPr id="948" name="Google Shape;948;p32"/>
            <p:cNvSpPr/>
            <p:nvPr/>
          </p:nvSpPr>
          <p:spPr>
            <a:xfrm>
              <a:off x="2088925" y="35000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49" name="Google Shape;949;p32"/>
            <p:cNvSpPr/>
            <p:nvPr/>
          </p:nvSpPr>
          <p:spPr>
            <a:xfrm>
              <a:off x="2241417" y="3260863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50" dirty="0">
                  <a:solidFill>
                    <a:srgbClr val="FFFFFF"/>
                  </a:solidFill>
                  <a:latin typeface="Fira Sans Extra Condensed"/>
                </a:rPr>
                <a:t>User Engagement</a:t>
              </a:r>
              <a:endParaRPr lang="en-US" sz="1050">
                <a:latin typeface="Fira Sans Extra Condensed"/>
              </a:endParaRPr>
            </a:p>
          </p:txBody>
        </p:sp>
        <p:sp>
          <p:nvSpPr>
            <p:cNvPr id="950" name="Google Shape;950;p32"/>
            <p:cNvSpPr/>
            <p:nvPr/>
          </p:nvSpPr>
          <p:spPr>
            <a:xfrm>
              <a:off x="4113320" y="3260874"/>
              <a:ext cx="4530131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200" dirty="0">
                  <a:ea typeface="Roboto"/>
                  <a:sym typeface="Roboto"/>
                </a:rPr>
                <a:t>Supports watchlists, reviews, ratings for content discovery</a:t>
              </a:r>
              <a:endParaRPr lang="en-US" dirty="0"/>
            </a:p>
          </p:txBody>
        </p:sp>
        <p:cxnSp>
          <p:nvCxnSpPr>
            <p:cNvPr id="951" name="Google Shape;951;p32"/>
            <p:cNvCxnSpPr>
              <a:stCxn id="949" idx="3"/>
              <a:endCxn id="950" idx="1"/>
            </p:cNvCxnSpPr>
            <p:nvPr/>
          </p:nvCxnSpPr>
          <p:spPr>
            <a:xfrm>
              <a:off x="3602517" y="3500113"/>
              <a:ext cx="510803" cy="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52" name="Google Shape;952;p32"/>
          <p:cNvGrpSpPr/>
          <p:nvPr/>
        </p:nvGrpSpPr>
        <p:grpSpPr>
          <a:xfrm>
            <a:off x="2551859" y="3934774"/>
            <a:ext cx="6424598" cy="478501"/>
            <a:chOff x="2660105" y="3934774"/>
            <a:chExt cx="6306663" cy="478501"/>
          </a:xfrm>
        </p:grpSpPr>
        <p:sp>
          <p:nvSpPr>
            <p:cNvPr id="953" name="Google Shape;953;p32"/>
            <p:cNvSpPr/>
            <p:nvPr/>
          </p:nvSpPr>
          <p:spPr>
            <a:xfrm>
              <a:off x="2660105" y="3934775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5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Customer Support</a:t>
              </a:r>
              <a:endParaRPr lang="en-US" sz="1050" dirty="0"/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4560060" y="3934774"/>
              <a:ext cx="4406708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Handles support tickets and tracks issue resolution</a:t>
              </a:r>
              <a:endParaRPr lang="en-US" dirty="0"/>
            </a:p>
          </p:txBody>
        </p:sp>
        <p:cxnSp>
          <p:nvCxnSpPr>
            <p:cNvPr id="955" name="Google Shape;955;p32"/>
            <p:cNvCxnSpPr>
              <a:stCxn id="953" idx="3"/>
              <a:endCxn id="954" idx="1"/>
            </p:cNvCxnSpPr>
            <p:nvPr/>
          </p:nvCxnSpPr>
          <p:spPr>
            <a:xfrm flipV="1">
              <a:off x="4021205" y="4174024"/>
              <a:ext cx="538854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Conceptual Design</a:t>
            </a:r>
          </a:p>
        </p:txBody>
      </p:sp>
      <p:grpSp>
        <p:nvGrpSpPr>
          <p:cNvPr id="255" name="Google Shape;255;p19"/>
          <p:cNvGrpSpPr/>
          <p:nvPr/>
        </p:nvGrpSpPr>
        <p:grpSpPr>
          <a:xfrm>
            <a:off x="2817814" y="2306532"/>
            <a:ext cx="6071636" cy="949944"/>
            <a:chOff x="3433276" y="2306532"/>
            <a:chExt cx="6071636" cy="949944"/>
          </a:xfrm>
        </p:grpSpPr>
        <p:sp>
          <p:nvSpPr>
            <p:cNvPr id="256" name="Google Shape;256;p19"/>
            <p:cNvSpPr/>
            <p:nvPr/>
          </p:nvSpPr>
          <p:spPr>
            <a:xfrm rot="16200000">
              <a:off x="4121626" y="1720926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3680707" y="2639976"/>
              <a:ext cx="2556268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sym typeface="Fira Sans Extra Condensed Medium"/>
                </a:rPr>
                <a:t>Defining Key Attributes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6347050" y="2306532"/>
              <a:ext cx="3157862" cy="530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/>
              <a:r>
                <a:rPr lang="en" sz="1200" b="1" dirty="0">
                  <a:latin typeface="Roboto"/>
                  <a:ea typeface="Roboto"/>
                  <a:sym typeface="Roboto"/>
                </a:rPr>
                <a:t>User (</a:t>
              </a:r>
              <a:r>
                <a:rPr lang="en" sz="1200" b="1" err="1">
                  <a:latin typeface="Roboto"/>
                  <a:ea typeface="Roboto"/>
                  <a:sym typeface="Roboto"/>
                </a:rPr>
                <a:t>user_id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, name, email, </a:t>
              </a:r>
              <a:r>
                <a:rPr lang="en" sz="1200" b="1" err="1">
                  <a:latin typeface="Roboto"/>
                  <a:ea typeface="Roboto"/>
                  <a:sym typeface="Roboto"/>
                </a:rPr>
                <a:t>plan_id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)</a:t>
              </a:r>
              <a:r>
                <a:rPr lang="en" sz="1200" dirty="0">
                  <a:latin typeface="Roboto"/>
                  <a:ea typeface="Roboto"/>
                  <a:sym typeface="Roboto"/>
                </a:rPr>
                <a:t>, 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Content (</a:t>
              </a:r>
              <a:r>
                <a:rPr lang="en" sz="1200" b="1" err="1">
                  <a:latin typeface="Roboto"/>
                  <a:ea typeface="Roboto"/>
                  <a:sym typeface="Roboto"/>
                </a:rPr>
                <a:t>content_id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, title, genre, duration)</a:t>
              </a:r>
              <a:r>
                <a:rPr lang="en" sz="1200" dirty="0">
                  <a:latin typeface="Roboto"/>
                  <a:ea typeface="Roboto"/>
                  <a:sym typeface="Roboto"/>
                </a:rPr>
                <a:t>, 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Payments (</a:t>
              </a:r>
              <a:r>
                <a:rPr lang="en" sz="1200" b="1" err="1">
                  <a:latin typeface="Roboto"/>
                  <a:ea typeface="Roboto"/>
                  <a:sym typeface="Roboto"/>
                </a:rPr>
                <a:t>payment_id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, </a:t>
              </a:r>
              <a:r>
                <a:rPr lang="en" sz="1200" b="1" err="1">
                  <a:latin typeface="Roboto"/>
                  <a:ea typeface="Roboto"/>
                  <a:sym typeface="Roboto"/>
                </a:rPr>
                <a:t>user_id</a:t>
              </a:r>
              <a:r>
                <a:rPr lang="en" sz="1200" b="1" dirty="0">
                  <a:latin typeface="Roboto"/>
                  <a:ea typeface="Roboto"/>
                  <a:sym typeface="Roboto"/>
                </a:rPr>
                <a:t>, amount)</a:t>
              </a:r>
              <a:endParaRPr lang="en" sz="1200">
                <a:latin typeface="Roboto"/>
                <a:ea typeface="Roboto"/>
              </a:endParaRPr>
            </a:p>
          </p:txBody>
        </p:sp>
      </p:grpSp>
      <p:grpSp>
        <p:nvGrpSpPr>
          <p:cNvPr id="259" name="Google Shape;259;p19"/>
          <p:cNvGrpSpPr/>
          <p:nvPr/>
        </p:nvGrpSpPr>
        <p:grpSpPr>
          <a:xfrm>
            <a:off x="2817814" y="3438898"/>
            <a:ext cx="6067640" cy="953940"/>
            <a:chOff x="3433276" y="3438898"/>
            <a:chExt cx="6067640" cy="953940"/>
          </a:xfrm>
        </p:grpSpPr>
        <p:sp>
          <p:nvSpPr>
            <p:cNvPr id="260" name="Google Shape;260;p19"/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3657082" y="3776338"/>
              <a:ext cx="2500317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600" b="1" dirty="0">
                  <a:solidFill>
                    <a:schemeClr val="accent3"/>
                  </a:solidFill>
                  <a:latin typeface="Fira Sans Extra Condensed"/>
                  <a:sym typeface="Fira Sans Extra Condensed Medium"/>
                </a:rPr>
                <a:t>Establishing Relationships</a:t>
              </a:r>
              <a:endParaRPr lang="en-US" sz="1600" b="1">
                <a:solidFill>
                  <a:schemeClr val="accent3"/>
                </a:solidFill>
                <a:latin typeface="Fira Sans Extra Condensed"/>
              </a:endParaRPr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6347050" y="3438898"/>
              <a:ext cx="3153866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/>
              <a:r>
                <a:rPr lang="en" sz="1200" b="1" dirty="0">
                  <a:latin typeface="Roboto"/>
                  <a:ea typeface="Roboto"/>
                </a:rPr>
                <a:t>One-to-Many - </a:t>
              </a:r>
              <a:r>
                <a:rPr lang="en" sz="1200" dirty="0">
                  <a:latin typeface="Roboto"/>
                  <a:ea typeface="Roboto"/>
                </a:rPr>
                <a:t>A </a:t>
              </a:r>
              <a:r>
                <a:rPr lang="en" sz="1200" b="1" dirty="0">
                  <a:latin typeface="Roboto"/>
                  <a:ea typeface="Roboto"/>
                </a:rPr>
                <a:t>User</a:t>
              </a:r>
              <a:r>
                <a:rPr lang="en" sz="1200" dirty="0">
                  <a:latin typeface="Roboto"/>
                  <a:ea typeface="Roboto"/>
                </a:rPr>
                <a:t> can have multiple </a:t>
              </a:r>
              <a:r>
                <a:rPr lang="en" sz="1200" b="1" dirty="0">
                  <a:latin typeface="Roboto"/>
                  <a:ea typeface="Roboto"/>
                </a:rPr>
                <a:t>Profiles </a:t>
              </a:r>
              <a:r>
                <a:rPr lang="en" sz="1200" dirty="0">
                  <a:latin typeface="Roboto"/>
                  <a:ea typeface="Roboto"/>
                </a:rPr>
                <a:t>and </a:t>
              </a:r>
              <a:r>
                <a:rPr lang="en" sz="1200" b="1" dirty="0">
                  <a:latin typeface="Roboto"/>
                  <a:ea typeface="Roboto"/>
                </a:rPr>
                <a:t>Payments</a:t>
              </a:r>
              <a:r>
                <a:rPr lang="en" sz="1200" dirty="0">
                  <a:latin typeface="Roboto"/>
                  <a:ea typeface="Roboto"/>
                </a:rPr>
                <a:t>.</a:t>
              </a:r>
            </a:p>
            <a:p>
              <a:pPr algn="r"/>
              <a:r>
                <a:rPr lang="en" sz="1200" b="1" dirty="0">
                  <a:latin typeface="Roboto"/>
                  <a:ea typeface="Roboto"/>
                </a:rPr>
                <a:t>Many-to-Many - </a:t>
              </a:r>
              <a:r>
                <a:rPr lang="en" sz="1200" dirty="0">
                  <a:latin typeface="Roboto"/>
                  <a:ea typeface="Roboto"/>
                </a:rPr>
                <a:t>Users watch multiple </a:t>
              </a:r>
              <a:r>
                <a:rPr lang="en" sz="1200" b="1" dirty="0">
                  <a:latin typeface="Roboto"/>
                  <a:ea typeface="Roboto"/>
                </a:rPr>
                <a:t>Content items</a:t>
              </a:r>
              <a:r>
                <a:rPr lang="en" sz="1200" dirty="0">
                  <a:latin typeface="Roboto"/>
                  <a:ea typeface="Roboto"/>
                </a:rPr>
                <a:t>, and content is viewed by multiple </a:t>
              </a:r>
              <a:r>
                <a:rPr lang="en" sz="1200" b="1" dirty="0">
                  <a:latin typeface="Roboto"/>
                  <a:ea typeface="Roboto"/>
                </a:rPr>
                <a:t>Users</a:t>
              </a:r>
              <a:r>
                <a:rPr lang="en" sz="1200" dirty="0">
                  <a:latin typeface="Roboto"/>
                  <a:ea typeface="Roboto"/>
                </a:rPr>
                <a:t> </a:t>
              </a:r>
            </a:p>
            <a:p>
              <a:pPr algn="r"/>
              <a:endParaRPr lang="en" sz="1200" b="1" dirty="0">
                <a:ea typeface="Roboto"/>
              </a:endParaRPr>
            </a:p>
          </p:txBody>
        </p:sp>
      </p:grpSp>
      <p:grpSp>
        <p:nvGrpSpPr>
          <p:cNvPr id="263" name="Google Shape;263;p19"/>
          <p:cNvGrpSpPr/>
          <p:nvPr/>
        </p:nvGrpSpPr>
        <p:grpSpPr>
          <a:xfrm>
            <a:off x="2817814" y="1272915"/>
            <a:ext cx="6015685" cy="847200"/>
            <a:chOff x="3433276" y="1272915"/>
            <a:chExt cx="6015685" cy="847200"/>
          </a:xfrm>
        </p:grpSpPr>
        <p:sp>
          <p:nvSpPr>
            <p:cNvPr id="264" name="Google Shape;264;p19"/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3700690" y="1499618"/>
              <a:ext cx="2504313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r>
                <a:rPr lang="en" sz="1600" dirty="0">
                  <a:solidFill>
                    <a:schemeClr val="accent1"/>
                  </a:solidFill>
                  <a:latin typeface="Fira Sans Extra Condensed Medium"/>
                  <a:sym typeface="Fira Sans Extra Condensed Medium"/>
                </a:rPr>
                <a:t>Identifying Core Entities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6347050" y="1274760"/>
              <a:ext cx="3101911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/>
              <a:r>
                <a:rPr lang="en" sz="1200" b="1" dirty="0">
                  <a:latin typeface="Roboto"/>
                  <a:ea typeface="Roboto"/>
                  <a:sym typeface="Roboto"/>
                </a:rPr>
                <a:t>User, Profiles, Subscription Plans,  Content, Episodes, Watch History, Reviews, Advertisements, Customer Support</a:t>
              </a:r>
              <a:endParaRPr lang="en" sz="1200">
                <a:latin typeface="Roboto"/>
                <a:ea typeface="Roboto"/>
              </a:endParaRPr>
            </a:p>
          </p:txBody>
        </p:sp>
      </p:grpSp>
      <p:grpSp>
        <p:nvGrpSpPr>
          <p:cNvPr id="283" name="Google Shape;283;p19"/>
          <p:cNvGrpSpPr/>
          <p:nvPr/>
        </p:nvGrpSpPr>
        <p:grpSpPr>
          <a:xfrm>
            <a:off x="595975" y="1696445"/>
            <a:ext cx="2103288" cy="2272941"/>
            <a:chOff x="568875" y="1696445"/>
            <a:chExt cx="2601975" cy="2272942"/>
          </a:xfrm>
        </p:grpSpPr>
        <p:grpSp>
          <p:nvGrpSpPr>
            <p:cNvPr id="284" name="Google Shape;284;p19"/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285" name="Google Shape;285;p19"/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6" name="Google Shape;286;p19"/>
              <p:cNvCxnSpPr>
                <a:stCxn id="285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87" name="Google Shape;287;p19"/>
              <p:cNvCxnSpPr>
                <a:stCxn id="285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8" name="Google Shape;288;p19"/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289" name="Google Shape;289;p19"/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0" name="Google Shape;290;p19"/>
              <p:cNvCxnSpPr>
                <a:stCxn id="289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91" name="Google Shape;291;p19"/>
              <p:cNvCxnSpPr>
                <a:stCxn id="289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92" name="Google Shape;292;p19"/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3" name="Google Shape;293;p19"/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568875" y="2181958"/>
              <a:ext cx="1459934" cy="126087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713765" y="2305490"/>
              <a:ext cx="1160030" cy="1025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" sz="11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</a:endParaRPr>
            </a:p>
          </p:txBody>
        </p:sp>
      </p:grpSp>
      <p:pic>
        <p:nvPicPr>
          <p:cNvPr id="2" name="Graphic 1" descr="Flowchart with solid fill">
            <a:extLst>
              <a:ext uri="{FF2B5EF4-FFF2-40B4-BE49-F238E27FC236}">
                <a16:creationId xmlns:a16="http://schemas.microsoft.com/office/drawing/2014/main" id="{92E7DD23-EECE-DCAA-75D8-DF092C2A2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425" y="2345871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Entity Clusters</a:t>
            </a:r>
          </a:p>
        </p:txBody>
      </p:sp>
      <p:grpSp>
        <p:nvGrpSpPr>
          <p:cNvPr id="405" name="Google Shape;405;p21"/>
          <p:cNvGrpSpPr/>
          <p:nvPr/>
        </p:nvGrpSpPr>
        <p:grpSpPr>
          <a:xfrm>
            <a:off x="4664243" y="1300649"/>
            <a:ext cx="1792510" cy="3124109"/>
            <a:chOff x="4628044" y="1300654"/>
            <a:chExt cx="1846807" cy="3124109"/>
          </a:xfrm>
        </p:grpSpPr>
        <p:sp>
          <p:nvSpPr>
            <p:cNvPr id="406" name="Google Shape;406;p21"/>
            <p:cNvSpPr/>
            <p:nvPr/>
          </p:nvSpPr>
          <p:spPr>
            <a:xfrm rot="10800000" flipH="1">
              <a:off x="4628044" y="2015463"/>
              <a:ext cx="1846800" cy="2409300"/>
            </a:xfrm>
            <a:prstGeom prst="round2SameRect">
              <a:avLst>
                <a:gd name="adj1" fmla="val 539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1"/>
            <p:cNvSpPr txBox="1"/>
            <p:nvPr/>
          </p:nvSpPr>
          <p:spPr>
            <a:xfrm>
              <a:off x="4710393" y="1857830"/>
              <a:ext cx="1682100" cy="2147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342900" indent="-342900">
                <a:buChar char="•"/>
              </a:pPr>
              <a:r>
                <a:rPr lang="en" dirty="0">
                  <a:ea typeface="Roboto"/>
                  <a:sym typeface="Roboto"/>
                </a:rPr>
                <a:t>Watch History</a:t>
              </a:r>
              <a:endParaRPr lang="en" dirty="0">
                <a:ea typeface="Roboto"/>
              </a:endParaRPr>
            </a:p>
            <a:p>
              <a:pPr marL="342900" indent="-342900">
                <a:buChar char="•"/>
              </a:pPr>
              <a:r>
                <a:rPr lang="en" dirty="0">
                  <a:ea typeface="Roboto"/>
                </a:rPr>
                <a:t>Watchlist</a:t>
              </a:r>
            </a:p>
            <a:p>
              <a:pPr marL="342900" indent="-342900">
                <a:buChar char="•"/>
              </a:pPr>
              <a:r>
                <a:rPr lang="en" dirty="0">
                  <a:ea typeface="Roboto"/>
                </a:rPr>
                <a:t>Reviews</a:t>
              </a:r>
              <a:endParaRPr lang="en"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4628051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dirty="0">
                  <a:solidFill>
                    <a:schemeClr val="lt1"/>
                  </a:solidFill>
                  <a:latin typeface="Fira Sans Extra Condensed Medium"/>
                  <a:sym typeface="Fira Sans Extra Condensed Medium"/>
                </a:rPr>
                <a:t>Streaming Analytics</a:t>
              </a:r>
              <a:r>
                <a:rPr lang="en" dirty="0">
                  <a:solidFill>
                    <a:schemeClr val="lt1"/>
                  </a:solidFill>
                  <a:latin typeface="Fira Sans Extra Condensed Medium"/>
                  <a:sym typeface="Fira Sans Extra Condensed Medium"/>
                </a:rPr>
                <a:t> </a:t>
              </a:r>
              <a:endParaRPr lang="en" dirty="0">
                <a:solidFill>
                  <a:schemeClr val="lt1"/>
                </a:solidFill>
                <a:latin typeface="Fira Sans Extra Condensed Medium"/>
              </a:endParaRPr>
            </a:p>
          </p:txBody>
        </p:sp>
      </p:grpSp>
      <p:grpSp>
        <p:nvGrpSpPr>
          <p:cNvPr id="410" name="Google Shape;410;p21"/>
          <p:cNvGrpSpPr/>
          <p:nvPr/>
        </p:nvGrpSpPr>
        <p:grpSpPr>
          <a:xfrm>
            <a:off x="6641225" y="1300650"/>
            <a:ext cx="1792505" cy="3124108"/>
            <a:chOff x="6586924" y="1300655"/>
            <a:chExt cx="1846801" cy="3124108"/>
          </a:xfrm>
        </p:grpSpPr>
        <p:sp>
          <p:nvSpPr>
            <p:cNvPr id="411" name="Google Shape;411;p21"/>
            <p:cNvSpPr/>
            <p:nvPr/>
          </p:nvSpPr>
          <p:spPr>
            <a:xfrm rot="10800000" flipH="1">
              <a:off x="6586925" y="2015463"/>
              <a:ext cx="1846800" cy="2409300"/>
            </a:xfrm>
            <a:prstGeom prst="round2SameRect">
              <a:avLst>
                <a:gd name="adj1" fmla="val 555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1"/>
            <p:cNvSpPr txBox="1"/>
            <p:nvPr/>
          </p:nvSpPr>
          <p:spPr>
            <a:xfrm>
              <a:off x="6669274" y="1913781"/>
              <a:ext cx="1682100" cy="2147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spcBef>
                  <a:spcPts val="0"/>
                </a:spcBef>
                <a:spcAft>
                  <a:spcPts val="0"/>
                </a:spcAft>
                <a:buChar char="•"/>
              </a:pPr>
              <a:r>
                <a:rPr lang="en" dirty="0">
                  <a:ea typeface="Roboto"/>
                </a:rPr>
                <a:t>Advertisements</a:t>
              </a:r>
              <a:endParaRPr lang="en-US"/>
            </a:p>
            <a:p>
              <a:pPr marL="171450" indent="-171450">
                <a:buChar char="•"/>
              </a:pPr>
              <a:r>
                <a:rPr lang="en" dirty="0">
                  <a:ea typeface="Roboto"/>
                </a:rPr>
                <a:t>Ad Views</a:t>
              </a:r>
            </a:p>
            <a:p>
              <a:pPr marL="171450" indent="-171450">
                <a:buChar char="•"/>
              </a:pPr>
              <a:r>
                <a:rPr lang="en" dirty="0">
                  <a:ea typeface="Roboto"/>
                </a:rPr>
                <a:t>Customer Support</a:t>
              </a:r>
              <a:endParaRPr lang="en"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6586924" y="1300655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700" dirty="0">
                  <a:solidFill>
                    <a:schemeClr val="lt1"/>
                  </a:solidFill>
                  <a:latin typeface="Fira Sans Extra Condensed Medium"/>
                  <a:sym typeface="Fira Sans Extra Condensed Medium"/>
                </a:rPr>
                <a:t>Customer Support &amp; Monetization</a:t>
              </a:r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415" name="Google Shape;415;p21"/>
          <p:cNvGrpSpPr/>
          <p:nvPr/>
        </p:nvGrpSpPr>
        <p:grpSpPr>
          <a:xfrm>
            <a:off x="710275" y="1300650"/>
            <a:ext cx="1792506" cy="3124109"/>
            <a:chOff x="710273" y="1300654"/>
            <a:chExt cx="1846802" cy="3124109"/>
          </a:xfrm>
        </p:grpSpPr>
        <p:sp>
          <p:nvSpPr>
            <p:cNvPr id="416" name="Google Shape;416;p21"/>
            <p:cNvSpPr/>
            <p:nvPr/>
          </p:nvSpPr>
          <p:spPr>
            <a:xfrm rot="10800000" flipH="1">
              <a:off x="710275" y="2015463"/>
              <a:ext cx="1846800" cy="2409300"/>
            </a:xfrm>
            <a:prstGeom prst="round2SameRect">
              <a:avLst>
                <a:gd name="adj1" fmla="val 5874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1"/>
            <p:cNvSpPr txBox="1"/>
            <p:nvPr/>
          </p:nvSpPr>
          <p:spPr>
            <a:xfrm>
              <a:off x="792625" y="2017690"/>
              <a:ext cx="1682100" cy="2139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lvl="0" indent="-285750">
                <a:spcBef>
                  <a:spcPts val="0"/>
                </a:spcBef>
                <a:spcAft>
                  <a:spcPts val="0"/>
                </a:spcAft>
                <a:buFont typeface="Arial"/>
                <a:buChar char="•"/>
              </a:pPr>
              <a:r>
                <a:rPr lang="en" dirty="0">
                  <a:latin typeface="Roboto"/>
                  <a:ea typeface="Roboto"/>
                  <a:sym typeface="Roboto"/>
                </a:rPr>
                <a:t>User</a:t>
              </a:r>
              <a:endParaRPr lang="en" dirty="0">
                <a:latin typeface="Roboto"/>
                <a:ea typeface="Roboto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" dirty="0">
                  <a:latin typeface="Roboto"/>
                  <a:ea typeface="Roboto"/>
                </a:rPr>
                <a:t>Profiles</a:t>
              </a:r>
            </a:p>
            <a:p>
              <a:pPr marL="285750" indent="-285750">
                <a:buFont typeface="Arial"/>
                <a:buChar char="•"/>
              </a:pPr>
              <a:r>
                <a:rPr lang="en" dirty="0">
                  <a:latin typeface="Roboto"/>
                  <a:ea typeface="Roboto"/>
                </a:rPr>
                <a:t>Subscription Plans</a:t>
              </a:r>
            </a:p>
            <a:p>
              <a:pPr marL="285750" indent="-285750">
                <a:buFont typeface="Arial"/>
                <a:buChar char="•"/>
              </a:pPr>
              <a:r>
                <a:rPr lang="en" dirty="0">
                  <a:latin typeface="Roboto"/>
                  <a:ea typeface="Roboto"/>
                </a:rPr>
                <a:t>Payments</a:t>
              </a:r>
              <a:endParaRPr lang="en">
                <a:latin typeface="Roboto"/>
              </a:endParaRPr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710273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dirty="0">
                  <a:solidFill>
                    <a:schemeClr val="lt1"/>
                  </a:solidFill>
                  <a:latin typeface="Fira Sans Extra Condensed"/>
                  <a:sym typeface="Fira Sans Extra Condensed Medium"/>
                </a:rPr>
                <a:t>Subscriber Management</a:t>
              </a:r>
              <a:endParaRPr lang="en-US" sz="1800">
                <a:solidFill>
                  <a:schemeClr val="lt1"/>
                </a:solidFill>
                <a:latin typeface="Fira Sans Extra Condensed"/>
              </a:endParaRPr>
            </a:p>
          </p:txBody>
        </p:sp>
      </p:grpSp>
      <p:grpSp>
        <p:nvGrpSpPr>
          <p:cNvPr id="420" name="Google Shape;420;p21"/>
          <p:cNvGrpSpPr/>
          <p:nvPr/>
        </p:nvGrpSpPr>
        <p:grpSpPr>
          <a:xfrm>
            <a:off x="2687250" y="1300649"/>
            <a:ext cx="1865009" cy="3124109"/>
            <a:chOff x="2669153" y="1300654"/>
            <a:chExt cx="1921501" cy="3124109"/>
          </a:xfrm>
        </p:grpSpPr>
        <p:sp>
          <p:nvSpPr>
            <p:cNvPr id="421" name="Google Shape;421;p21"/>
            <p:cNvSpPr/>
            <p:nvPr/>
          </p:nvSpPr>
          <p:spPr>
            <a:xfrm rot="10800000" flipH="1">
              <a:off x="2669162" y="2015463"/>
              <a:ext cx="1846800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1"/>
            <p:cNvSpPr txBox="1"/>
            <p:nvPr/>
          </p:nvSpPr>
          <p:spPr>
            <a:xfrm>
              <a:off x="2751512" y="2017690"/>
              <a:ext cx="1839142" cy="2139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342900" lvl="0" indent="-342900">
                <a:spcBef>
                  <a:spcPts val="0"/>
                </a:spcBef>
                <a:spcAft>
                  <a:spcPts val="0"/>
                </a:spcAft>
                <a:buChar char="•"/>
              </a:pPr>
              <a:r>
                <a:rPr lang="en" dirty="0">
                  <a:ea typeface="Roboto"/>
                  <a:sym typeface="Roboto"/>
                </a:rPr>
                <a:t>Content</a:t>
              </a:r>
              <a:endParaRPr lang="en" dirty="0">
                <a:ea typeface="Roboto"/>
              </a:endParaRPr>
            </a:p>
            <a:p>
              <a:pPr marL="342900" indent="-342900">
                <a:buChar char="•"/>
              </a:pPr>
              <a:r>
                <a:rPr lang="en" dirty="0">
                  <a:ea typeface="Roboto"/>
                </a:rPr>
                <a:t>Episodes</a:t>
              </a:r>
            </a:p>
            <a:p>
              <a:pPr marL="342900" indent="-342900">
                <a:buChar char="•"/>
              </a:pPr>
              <a:r>
                <a:rPr lang="en" dirty="0">
                  <a:ea typeface="Roboto"/>
                </a:rPr>
                <a:t>Actors/Director</a:t>
              </a:r>
            </a:p>
            <a:p>
              <a:endParaRPr lang="en" dirty="0">
                <a:ea typeface="Roboto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2669153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dirty="0">
                  <a:solidFill>
                    <a:schemeClr val="lt1"/>
                  </a:solidFill>
                  <a:latin typeface="Fira Sans Extra Condensed Medium"/>
                  <a:sym typeface="Fira Sans Extra Condensed Medium"/>
                </a:rPr>
                <a:t>Content Cataloging</a:t>
              </a:r>
              <a:endParaRPr lang="en-US" sz="1600" dirty="0">
                <a:solidFill>
                  <a:schemeClr val="lt1"/>
                </a:solidFill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A5941C3E-FB6A-F78C-EAD8-8C763704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>
            <a:extLst>
              <a:ext uri="{FF2B5EF4-FFF2-40B4-BE49-F238E27FC236}">
                <a16:creationId xmlns:a16="http://schemas.microsoft.com/office/drawing/2014/main" id="{875CEDE8-AC71-A97F-6BF8-434B1085E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-52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Subscriber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62EDC-7F42-09CE-AA89-28CEA66E061D}"/>
              </a:ext>
            </a:extLst>
          </p:cNvPr>
          <p:cNvSpPr txBox="1"/>
          <p:nvPr/>
        </p:nvSpPr>
        <p:spPr>
          <a:xfrm>
            <a:off x="5442467" y="583349"/>
            <a:ext cx="3417694" cy="40817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b="1" dirty="0"/>
              <a:t>Entities : User</a:t>
            </a:r>
            <a:r>
              <a:rPr lang="en-US" dirty="0"/>
              <a:t>, </a:t>
            </a:r>
            <a:r>
              <a:rPr lang="en-US" b="1" dirty="0"/>
              <a:t>Subscription Plans</a:t>
            </a:r>
            <a:r>
              <a:rPr lang="en-US" dirty="0"/>
              <a:t>, and </a:t>
            </a:r>
            <a:r>
              <a:rPr lang="en-US" b="1" dirty="0"/>
              <a:t>Payments</a:t>
            </a:r>
            <a:r>
              <a:rPr lang="en-US" dirty="0"/>
              <a:t> are the core entities, with Subscription Plans having subtypes (Basic, Standard, Premium).</a:t>
            </a:r>
            <a:endParaRPr lang="en-US"/>
          </a:p>
          <a:p>
            <a:pPr marL="285750" indent="-285750">
              <a:buChar char="•"/>
            </a:pPr>
            <a:r>
              <a:rPr lang="en-US" b="1" dirty="0"/>
              <a:t>Payments : One-to-many relationship</a:t>
            </a:r>
            <a:r>
              <a:rPr lang="en-US" dirty="0"/>
              <a:t> between Users and Subscription Plans, requiring a separate Payments entity to track transactions.</a:t>
            </a:r>
            <a:endParaRPr lang="en-US" dirty="0">
              <a:cs typeface="Arial"/>
            </a:endParaRPr>
          </a:p>
          <a:p>
            <a:pPr marL="285750" indent="-285750">
              <a:buChar char="•"/>
            </a:pPr>
            <a:r>
              <a:rPr lang="en-US" b="1" dirty="0"/>
              <a:t>Payments Attributes : </a:t>
            </a:r>
            <a:r>
              <a:rPr lang="en-US" dirty="0"/>
              <a:t>Stores </a:t>
            </a:r>
            <a:r>
              <a:rPr lang="en-US" b="1" dirty="0"/>
              <a:t>amount, payment date, and payment method</a:t>
            </a:r>
            <a:r>
              <a:rPr lang="en-US" dirty="0"/>
              <a:t>, allowing independent tracking of subscription payments, renewals, and failures.</a:t>
            </a:r>
          </a:p>
          <a:p>
            <a:endParaRPr lang="en-US" dirty="0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3B0D603D-421B-B87A-3252-FA0BCD771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54" y="480519"/>
            <a:ext cx="4487626" cy="46009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271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36522082-67F5-3882-F0DD-25D14846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>
            <a:extLst>
              <a:ext uri="{FF2B5EF4-FFF2-40B4-BE49-F238E27FC236}">
                <a16:creationId xmlns:a16="http://schemas.microsoft.com/office/drawing/2014/main" id="{33331630-5D4E-E80C-EDB8-EFA579DCE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-52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Supertype &amp; Subtype for Subscription plans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79DB3-2A6E-8B52-4AD7-9BC5D984D552}"/>
              </a:ext>
            </a:extLst>
          </p:cNvPr>
          <p:cNvSpPr txBox="1"/>
          <p:nvPr/>
        </p:nvSpPr>
        <p:spPr>
          <a:xfrm>
            <a:off x="5031161" y="479439"/>
            <a:ext cx="3902601" cy="45500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Concepts Used in Our Model</a:t>
            </a:r>
            <a:endParaRPr lang="en-US">
              <a:cs typeface="Arial"/>
            </a:endParaRPr>
          </a:p>
          <a:p>
            <a:pPr marL="457200"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Supertype: Subscription Plans (generic entity for different plan types).</a:t>
            </a:r>
          </a:p>
          <a:p>
            <a:pPr marL="457200"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Subtypes: Basic, Standard, and Premium (each with unique attributes).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Total Specialization Rule (Double Line)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 Every instance of the supertype must belong to at least one subtype.</a:t>
            </a:r>
            <a:endParaRPr lang="en-US"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 Subscription Plan must be either Basic, Standard, or Premium.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Disjoint Rule (Only One Subtype):</a:t>
            </a:r>
            <a:endParaRPr lang="en-US" dirty="0">
              <a:cs typeface="Arial"/>
            </a:endParaRPr>
          </a:p>
          <a:p>
            <a:pPr marL="457200"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An instance of the supertype can belong to only one subtype.</a:t>
            </a:r>
          </a:p>
          <a:p>
            <a:pPr marL="457200"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 plan cannot be both Basic and </a:t>
            </a:r>
            <a:r>
              <a:rPr lang="en-US">
                <a:ea typeface="+mn-lt"/>
                <a:cs typeface="+mn-lt"/>
              </a:rPr>
              <a:t>Standard at the same time.</a:t>
            </a:r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3C368B8E-ACA5-5776-B0A7-313EC2FD2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40" y="1285875"/>
            <a:ext cx="4864317" cy="28488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927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D7D8E0E1-DBDB-9909-0E62-32E882608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>
            <a:extLst>
              <a:ext uri="{FF2B5EF4-FFF2-40B4-BE49-F238E27FC236}">
                <a16:creationId xmlns:a16="http://schemas.microsoft.com/office/drawing/2014/main" id="{9817CE34-C5A3-08CC-CFEF-47D906B66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1322"/>
            <a:ext cx="7723500" cy="7271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Content Cataloging</a:t>
            </a:r>
          </a:p>
        </p:txBody>
      </p:sp>
      <p:pic>
        <p:nvPicPr>
          <p:cNvPr id="7" name="Picture 6" descr="A diagram of a television show&#10;&#10;AI-generated content may be incorrect.">
            <a:extLst>
              <a:ext uri="{FF2B5EF4-FFF2-40B4-BE49-F238E27FC236}">
                <a16:creationId xmlns:a16="http://schemas.microsoft.com/office/drawing/2014/main" id="{225D4753-29EB-E1F2-E92A-A7DF9CED3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2" y="800692"/>
            <a:ext cx="4801239" cy="39233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C3111A-1CDF-6849-C826-29A07E93BB04}"/>
              </a:ext>
            </a:extLst>
          </p:cNvPr>
          <p:cNvSpPr txBox="1"/>
          <p:nvPr/>
        </p:nvSpPr>
        <p:spPr>
          <a:xfrm>
            <a:off x="5061271" y="703651"/>
            <a:ext cx="3986273" cy="41180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b="1" dirty="0"/>
              <a:t>Entities : Content</a:t>
            </a:r>
            <a:r>
              <a:rPr lang="en-US" dirty="0"/>
              <a:t>, </a:t>
            </a:r>
            <a:r>
              <a:rPr lang="en-US" b="1" dirty="0"/>
              <a:t>Episodes</a:t>
            </a:r>
            <a:r>
              <a:rPr lang="en-US" dirty="0"/>
              <a:t>, and </a:t>
            </a:r>
            <a:r>
              <a:rPr lang="en-US" b="1" dirty="0" err="1"/>
              <a:t>Actors_Directors</a:t>
            </a:r>
            <a:r>
              <a:rPr lang="en-US" dirty="0"/>
              <a:t> are the core entities, where Content represents movies/TV shows, Episodes store episode details, and </a:t>
            </a:r>
            <a:r>
              <a:rPr lang="en-US" dirty="0" err="1"/>
              <a:t>Actors_Directors</a:t>
            </a:r>
            <a:r>
              <a:rPr lang="en-US" dirty="0"/>
              <a:t> track associated people.</a:t>
            </a:r>
          </a:p>
          <a:p>
            <a:pPr marL="285750" indent="-285750">
              <a:buChar char="•"/>
            </a:pPr>
            <a:r>
              <a:rPr lang="en-US" b="1" dirty="0"/>
              <a:t>Relationships :</a:t>
            </a:r>
            <a:endParaRPr lang="en-US" dirty="0"/>
          </a:p>
          <a:p>
            <a:pPr marL="457200" lvl="1">
              <a:buFont typeface="Courier New"/>
              <a:buChar char="o"/>
            </a:pPr>
            <a:r>
              <a:rPr lang="en-US" b="1" dirty="0"/>
              <a:t>One-to-many relationship</a:t>
            </a:r>
            <a:r>
              <a:rPr lang="en-US" dirty="0"/>
              <a:t> between Content and Episodes, as a TV show can have multiple episodes.</a:t>
            </a:r>
          </a:p>
          <a:p>
            <a:pPr marL="457200" lvl="1">
              <a:buFont typeface="Courier New"/>
              <a:buChar char="o"/>
            </a:pPr>
            <a:r>
              <a:rPr lang="en-US" b="1" dirty="0"/>
              <a:t>Many-to-many relationship</a:t>
            </a:r>
            <a:r>
              <a:rPr lang="en-US" dirty="0"/>
              <a:t> between Content and </a:t>
            </a:r>
            <a:r>
              <a:rPr lang="en-US" err="1"/>
              <a:t>Actors_Directors</a:t>
            </a:r>
            <a:r>
              <a:rPr lang="en-US" dirty="0"/>
              <a:t>, allowing multiple actors/directors per content and vice versa.</a:t>
            </a:r>
          </a:p>
          <a:p>
            <a:pPr marL="285750" indent="-285750" algn="l"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5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8C91632-CA8C-4D96-0BA9-F9F20052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>
            <a:extLst>
              <a:ext uri="{FF2B5EF4-FFF2-40B4-BE49-F238E27FC236}">
                <a16:creationId xmlns:a16="http://schemas.microsoft.com/office/drawing/2014/main" id="{EE511907-F912-F88F-137B-E3FAACE48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1321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</a:rPr>
              <a:t>Streaming Analytics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A638F-C0AC-398F-F41D-F1823257163B}"/>
              </a:ext>
            </a:extLst>
          </p:cNvPr>
          <p:cNvSpPr txBox="1"/>
          <p:nvPr/>
        </p:nvSpPr>
        <p:spPr>
          <a:xfrm>
            <a:off x="303329" y="3059348"/>
            <a:ext cx="8757989" cy="20090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Entities – Profiles, Content, </a:t>
            </a:r>
            <a:r>
              <a:rPr lang="en-US" err="1"/>
              <a:t>Watch_History</a:t>
            </a:r>
            <a:r>
              <a:rPr lang="en-US"/>
              <a:t>, Reviews, Watchlist, and Recommendations manage user interactions and content metadata.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Watchlist as an Associative Entity – Connects Profiles and Content in a many-to-many relationship, tracking saved content with </a:t>
            </a:r>
            <a:r>
              <a:rPr lang="en-US" err="1"/>
              <a:t>added_date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Recommendations as an Associative Entity – Links Profiles and Content, storing </a:t>
            </a:r>
            <a:r>
              <a:rPr lang="en-US" err="1"/>
              <a:t>view_date</a:t>
            </a:r>
            <a:r>
              <a:rPr lang="en-US"/>
              <a:t> for personalized suggestions.</a:t>
            </a:r>
          </a:p>
        </p:txBody>
      </p:sp>
      <p:pic>
        <p:nvPicPr>
          <p:cNvPr id="2" name="Picture 1" descr="A diagram of a data flow&#10;&#10;AI-generated content may be incorrect.">
            <a:extLst>
              <a:ext uri="{FF2B5EF4-FFF2-40B4-BE49-F238E27FC236}">
                <a16:creationId xmlns:a16="http://schemas.microsoft.com/office/drawing/2014/main" id="{7033B17D-7190-E284-6F2B-E8969E62B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804" y="483388"/>
            <a:ext cx="5078394" cy="25635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7404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FFEB303-AD1E-1C79-A357-ACE60B667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>
            <a:extLst>
              <a:ext uri="{FF2B5EF4-FFF2-40B4-BE49-F238E27FC236}">
                <a16:creationId xmlns:a16="http://schemas.microsoft.com/office/drawing/2014/main" id="{44A5E9D0-9CFC-9D77-1A87-9073C0004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88131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</a:rPr>
              <a:t>Customer Support &amp; Monetization</a:t>
            </a:r>
            <a:endParaRPr lang="en-US" dirty="0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EFCA8571-C912-A25B-895D-66AA1DA93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09" y="571500"/>
            <a:ext cx="3883900" cy="4188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719305-D2A3-FD88-1FD8-6417FC6389D5}"/>
              </a:ext>
            </a:extLst>
          </p:cNvPr>
          <p:cNvSpPr txBox="1"/>
          <p:nvPr/>
        </p:nvSpPr>
        <p:spPr>
          <a:xfrm>
            <a:off x="4707037" y="570484"/>
            <a:ext cx="4139395" cy="43880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b="1" dirty="0"/>
              <a:t>Entities</a:t>
            </a:r>
            <a:r>
              <a:rPr lang="en-US" sz="1600" dirty="0"/>
              <a:t> – The system includes </a:t>
            </a:r>
            <a:r>
              <a:rPr lang="en-US" sz="1600" b="1" dirty="0"/>
              <a:t>User, Customer Support, Advertisement, and </a:t>
            </a:r>
            <a:r>
              <a:rPr lang="en-US" sz="1600" b="1" dirty="0" err="1"/>
              <a:t>AD_views</a:t>
            </a:r>
            <a:r>
              <a:rPr lang="en-US" sz="1600" dirty="0"/>
              <a:t>, managing user interactions, issue resolution, and ad tracking</a:t>
            </a:r>
            <a:endParaRPr lang="en-US" sz="1600" dirty="0">
              <a:cs typeface="Arial"/>
            </a:endParaRPr>
          </a:p>
          <a:p>
            <a:pPr marL="285750" indent="-285750">
              <a:buChar char="•"/>
            </a:pPr>
            <a:r>
              <a:rPr lang="en-US" sz="1600" b="1" err="1"/>
              <a:t>AD_views</a:t>
            </a:r>
            <a:r>
              <a:rPr lang="en-US" sz="1600" b="1" dirty="0"/>
              <a:t> as an Associative Entity</a:t>
            </a:r>
            <a:r>
              <a:rPr lang="en-US" sz="1600" dirty="0"/>
              <a:t> – Links </a:t>
            </a:r>
            <a:r>
              <a:rPr lang="en-US" sz="1600" b="1" dirty="0"/>
              <a:t>Users and Advertisements</a:t>
            </a:r>
            <a:r>
              <a:rPr lang="en-US" sz="1600" dirty="0"/>
              <a:t> in a </a:t>
            </a:r>
            <a:r>
              <a:rPr lang="en-US" sz="1600" b="1" dirty="0"/>
              <a:t>many-to-many relationship</a:t>
            </a:r>
            <a:r>
              <a:rPr lang="en-US" sz="1600" dirty="0"/>
              <a:t>, tracking ad views with </a:t>
            </a:r>
            <a:r>
              <a:rPr lang="en-US" sz="1600" b="1" err="1"/>
              <a:t>view_date</a:t>
            </a:r>
            <a:endParaRPr lang="en-US" sz="1600" dirty="0" err="1"/>
          </a:p>
          <a:p>
            <a:pPr marL="285750" indent="-285750">
              <a:buChar char="•"/>
            </a:pPr>
            <a:r>
              <a:rPr lang="en-US" sz="1600" b="1" dirty="0"/>
              <a:t>Customer Support Relationship</a:t>
            </a:r>
            <a:r>
              <a:rPr lang="en-US" sz="1600" dirty="0"/>
              <a:t> – Connects </a:t>
            </a:r>
            <a:r>
              <a:rPr lang="en-US" sz="1600" b="1" dirty="0"/>
              <a:t>Users and Support Tickets</a:t>
            </a:r>
            <a:r>
              <a:rPr lang="en-US" sz="1600" dirty="0"/>
              <a:t>, allowing issue tracking with attributes like </a:t>
            </a:r>
            <a:r>
              <a:rPr lang="en-US" sz="1600" b="1" dirty="0" err="1"/>
              <a:t>issue_type</a:t>
            </a:r>
            <a:r>
              <a:rPr lang="en-US" sz="1600" b="1" dirty="0"/>
              <a:t>, status, and resolution time</a:t>
            </a:r>
            <a:r>
              <a:rPr lang="en-US" sz="1600" dirty="0"/>
              <a:t>.</a:t>
            </a:r>
            <a:endParaRPr lang="en-US" sz="1600" dirty="0"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0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61EEBA5-8AB6-BE61-4816-5AA646C3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B15310-299B-A55E-0EE2-82514A11C92D}"/>
              </a:ext>
            </a:extLst>
          </p:cNvPr>
          <p:cNvSpPr txBox="1"/>
          <p:nvPr/>
        </p:nvSpPr>
        <p:spPr>
          <a:xfrm>
            <a:off x="1808802" y="76648"/>
            <a:ext cx="575401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Fira Sans Extra Condensed"/>
              </a:rPr>
              <a:t>Entity Relationship Diagram</a:t>
            </a:r>
            <a:endParaRPr lang="en-US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30B5B0B0-03EE-4985-2FBE-FE14F97E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070" y="383411"/>
            <a:ext cx="6833607" cy="46515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100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Google Shape;519;p24"/>
          <p:cNvGrpSpPr/>
          <p:nvPr/>
        </p:nvGrpSpPr>
        <p:grpSpPr>
          <a:xfrm>
            <a:off x="710275" y="1325475"/>
            <a:ext cx="1659300" cy="2862400"/>
            <a:chOff x="710275" y="1325475"/>
            <a:chExt cx="1659300" cy="2862400"/>
          </a:xfrm>
        </p:grpSpPr>
        <p:cxnSp>
          <p:nvCxnSpPr>
            <p:cNvPr id="520" name="Google Shape;520;p24"/>
            <p:cNvCxnSpPr>
              <a:stCxn id="521" idx="0"/>
            </p:cNvCxnSpPr>
            <p:nvPr/>
          </p:nvCxnSpPr>
          <p:spPr>
            <a:xfrm>
              <a:off x="15399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1" name="Google Shape;521;p24"/>
            <p:cNvSpPr/>
            <p:nvPr/>
          </p:nvSpPr>
          <p:spPr>
            <a:xfrm rot="10800000">
              <a:off x="1299325" y="1325475"/>
              <a:ext cx="481200" cy="48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4"/>
            <p:cNvSpPr txBox="1"/>
            <p:nvPr/>
          </p:nvSpPr>
          <p:spPr>
            <a:xfrm>
              <a:off x="736525" y="3454375"/>
              <a:ext cx="1606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7102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Regular Entities</a:t>
              </a:r>
              <a:endParaRPr lang="en-US"/>
            </a:p>
          </p:txBody>
        </p:sp>
      </p:grpSp>
      <p:grpSp>
        <p:nvGrpSpPr>
          <p:cNvPr id="524" name="Google Shape;524;p24"/>
          <p:cNvGrpSpPr/>
          <p:nvPr/>
        </p:nvGrpSpPr>
        <p:grpSpPr>
          <a:xfrm>
            <a:off x="2226325" y="1325475"/>
            <a:ext cx="1659300" cy="2862400"/>
            <a:chOff x="2226325" y="1325475"/>
            <a:chExt cx="1659300" cy="2862400"/>
          </a:xfrm>
        </p:grpSpPr>
        <p:cxnSp>
          <p:nvCxnSpPr>
            <p:cNvPr id="525" name="Google Shape;525;p24"/>
            <p:cNvCxnSpPr>
              <a:stCxn id="526" idx="0"/>
            </p:cNvCxnSpPr>
            <p:nvPr/>
          </p:nvCxnSpPr>
          <p:spPr>
            <a:xfrm>
              <a:off x="305597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6" name="Google Shape;526;p24"/>
            <p:cNvSpPr/>
            <p:nvPr/>
          </p:nvSpPr>
          <p:spPr>
            <a:xfrm rot="10800000">
              <a:off x="2815375" y="1325475"/>
              <a:ext cx="481200" cy="481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222632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Weak Entities</a:t>
              </a:r>
              <a:endParaRPr lang="en-US" dirty="0"/>
            </a:p>
          </p:txBody>
        </p:sp>
        <p:sp>
          <p:nvSpPr>
            <p:cNvPr id="528" name="Google Shape;528;p24"/>
            <p:cNvSpPr txBox="1"/>
            <p:nvPr/>
          </p:nvSpPr>
          <p:spPr>
            <a:xfrm>
              <a:off x="22852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29" name="Google Shape;529;p24"/>
          <p:cNvGrpSpPr/>
          <p:nvPr/>
        </p:nvGrpSpPr>
        <p:grpSpPr>
          <a:xfrm>
            <a:off x="3742375" y="1325475"/>
            <a:ext cx="1659300" cy="2862400"/>
            <a:chOff x="3742375" y="1325475"/>
            <a:chExt cx="1659300" cy="2862400"/>
          </a:xfrm>
        </p:grpSpPr>
        <p:cxnSp>
          <p:nvCxnSpPr>
            <p:cNvPr id="530" name="Google Shape;530;p24"/>
            <p:cNvCxnSpPr>
              <a:stCxn id="531" idx="0"/>
            </p:cNvCxnSpPr>
            <p:nvPr/>
          </p:nvCxnSpPr>
          <p:spPr>
            <a:xfrm>
              <a:off x="45720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1" name="Google Shape;531;p24"/>
            <p:cNvSpPr/>
            <p:nvPr/>
          </p:nvSpPr>
          <p:spPr>
            <a:xfrm rot="10800000">
              <a:off x="4331425" y="1325475"/>
              <a:ext cx="481200" cy="4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37423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Binary Relationships</a:t>
              </a:r>
              <a:endParaRPr lang="en-US" sz="1200" dirty="0"/>
            </a:p>
          </p:txBody>
        </p:sp>
        <p:sp>
          <p:nvSpPr>
            <p:cNvPr id="533" name="Google Shape;533;p24"/>
            <p:cNvSpPr txBox="1"/>
            <p:nvPr/>
          </p:nvSpPr>
          <p:spPr>
            <a:xfrm>
              <a:off x="38013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34" name="Google Shape;534;p24"/>
          <p:cNvGrpSpPr/>
          <p:nvPr/>
        </p:nvGrpSpPr>
        <p:grpSpPr>
          <a:xfrm>
            <a:off x="5258425" y="1325475"/>
            <a:ext cx="1659300" cy="2862400"/>
            <a:chOff x="5258425" y="1325475"/>
            <a:chExt cx="1659300" cy="2862400"/>
          </a:xfrm>
        </p:grpSpPr>
        <p:cxnSp>
          <p:nvCxnSpPr>
            <p:cNvPr id="535" name="Google Shape;535;p24"/>
            <p:cNvCxnSpPr>
              <a:stCxn id="536" idx="0"/>
            </p:cNvCxnSpPr>
            <p:nvPr/>
          </p:nvCxnSpPr>
          <p:spPr>
            <a:xfrm>
              <a:off x="608807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6" name="Google Shape;536;p24"/>
            <p:cNvSpPr/>
            <p:nvPr/>
          </p:nvSpPr>
          <p:spPr>
            <a:xfrm rot="10800000">
              <a:off x="5847475" y="1325475"/>
              <a:ext cx="481200" cy="481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525842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Associative Entities</a:t>
              </a:r>
              <a:endParaRPr lang="en-US" sz="1200" dirty="0"/>
            </a:p>
          </p:txBody>
        </p:sp>
        <p:sp>
          <p:nvSpPr>
            <p:cNvPr id="538" name="Google Shape;538;p24"/>
            <p:cNvSpPr txBox="1"/>
            <p:nvPr/>
          </p:nvSpPr>
          <p:spPr>
            <a:xfrm>
              <a:off x="53173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39" name="Google Shape;539;p24"/>
          <p:cNvGrpSpPr/>
          <p:nvPr/>
        </p:nvGrpSpPr>
        <p:grpSpPr>
          <a:xfrm>
            <a:off x="6774475" y="1325475"/>
            <a:ext cx="1659300" cy="2862400"/>
            <a:chOff x="6774475" y="1325475"/>
            <a:chExt cx="1659300" cy="2862400"/>
          </a:xfrm>
        </p:grpSpPr>
        <p:cxnSp>
          <p:nvCxnSpPr>
            <p:cNvPr id="540" name="Google Shape;540;p24"/>
            <p:cNvCxnSpPr>
              <a:stCxn id="541" idx="0"/>
            </p:cNvCxnSpPr>
            <p:nvPr/>
          </p:nvCxnSpPr>
          <p:spPr>
            <a:xfrm>
              <a:off x="76041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41" name="Google Shape;541;p24"/>
            <p:cNvSpPr/>
            <p:nvPr/>
          </p:nvSpPr>
          <p:spPr>
            <a:xfrm rot="10800000">
              <a:off x="7363525" y="1325475"/>
              <a:ext cx="481200" cy="481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67744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100" dirty="0">
                  <a:solidFill>
                    <a:srgbClr val="FFFFFF"/>
                  </a:solidFill>
                  <a:latin typeface="Fira Sans Extra Condensed"/>
                  <a:sym typeface="Fira Sans Extra Condensed Medium"/>
                </a:rPr>
                <a:t>Supertype/Subtype Relationships</a:t>
              </a:r>
              <a:endParaRPr lang="en-US" sz="1100">
                <a:latin typeface="Fira Sans Extra Condensed"/>
              </a:endParaRPr>
            </a:p>
          </p:txBody>
        </p:sp>
        <p:sp>
          <p:nvSpPr>
            <p:cNvPr id="543" name="Google Shape;543;p24"/>
            <p:cNvSpPr txBox="1"/>
            <p:nvPr/>
          </p:nvSpPr>
          <p:spPr>
            <a:xfrm>
              <a:off x="68334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44" name="Google Shape;544;p24"/>
          <p:cNvGrpSpPr/>
          <p:nvPr/>
        </p:nvGrpSpPr>
        <p:grpSpPr>
          <a:xfrm>
            <a:off x="2936123" y="1429722"/>
            <a:ext cx="239701" cy="272713"/>
            <a:chOff x="6264525" y="842250"/>
            <a:chExt cx="423500" cy="481825"/>
          </a:xfrm>
        </p:grpSpPr>
        <p:sp>
          <p:nvSpPr>
            <p:cNvPr id="545" name="Google Shape;545;p24"/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2" name="Google Shape;552;p24"/>
          <p:cNvGrpSpPr/>
          <p:nvPr/>
        </p:nvGrpSpPr>
        <p:grpSpPr>
          <a:xfrm>
            <a:off x="1403569" y="1429722"/>
            <a:ext cx="272713" cy="272713"/>
            <a:chOff x="900750" y="1436075"/>
            <a:chExt cx="481825" cy="481825"/>
          </a:xfrm>
        </p:grpSpPr>
        <p:sp>
          <p:nvSpPr>
            <p:cNvPr id="553" name="Google Shape;553;p24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7" name="Google Shape;557;p24"/>
          <p:cNvGrpSpPr/>
          <p:nvPr/>
        </p:nvGrpSpPr>
        <p:grpSpPr>
          <a:xfrm>
            <a:off x="4435663" y="1429722"/>
            <a:ext cx="272713" cy="272713"/>
            <a:chOff x="4456875" y="1435075"/>
            <a:chExt cx="481825" cy="481825"/>
          </a:xfrm>
        </p:grpSpPr>
        <p:sp>
          <p:nvSpPr>
            <p:cNvPr id="558" name="Google Shape;558;p24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7" name="Google Shape;577;p24"/>
          <p:cNvGrpSpPr/>
          <p:nvPr/>
        </p:nvGrpSpPr>
        <p:grpSpPr>
          <a:xfrm>
            <a:off x="5950382" y="1429715"/>
            <a:ext cx="275387" cy="272727"/>
            <a:chOff x="5049725" y="1435050"/>
            <a:chExt cx="486550" cy="481850"/>
          </a:xfrm>
        </p:grpSpPr>
        <p:sp>
          <p:nvSpPr>
            <p:cNvPr id="578" name="Google Shape;578;p24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82" name="Google Shape;582;p24"/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3" name="Google Shape;583;p24"/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0" name="Google Shape;590;p2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Transformation into Relational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45A8787-E1FC-758F-8D89-DA452745A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Google Shape;519;p24">
            <a:extLst>
              <a:ext uri="{FF2B5EF4-FFF2-40B4-BE49-F238E27FC236}">
                <a16:creationId xmlns:a16="http://schemas.microsoft.com/office/drawing/2014/main" id="{576F8465-6CF5-CAE5-5DB8-59A551E8D2B5}"/>
              </a:ext>
            </a:extLst>
          </p:cNvPr>
          <p:cNvGrpSpPr/>
          <p:nvPr/>
        </p:nvGrpSpPr>
        <p:grpSpPr>
          <a:xfrm>
            <a:off x="710275" y="1325475"/>
            <a:ext cx="1659300" cy="2862400"/>
            <a:chOff x="710275" y="1325475"/>
            <a:chExt cx="1659300" cy="2862400"/>
          </a:xfrm>
        </p:grpSpPr>
        <p:cxnSp>
          <p:nvCxnSpPr>
            <p:cNvPr id="520" name="Google Shape;520;p24">
              <a:extLst>
                <a:ext uri="{FF2B5EF4-FFF2-40B4-BE49-F238E27FC236}">
                  <a16:creationId xmlns:a16="http://schemas.microsoft.com/office/drawing/2014/main" id="{4B5BDD85-D11D-0E3E-98A7-CB5E0DE227F2}"/>
                </a:ext>
              </a:extLst>
            </p:cNvPr>
            <p:cNvCxnSpPr>
              <a:stCxn id="521" idx="0"/>
            </p:cNvCxnSpPr>
            <p:nvPr/>
          </p:nvCxnSpPr>
          <p:spPr>
            <a:xfrm>
              <a:off x="15399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1" name="Google Shape;521;p24">
              <a:extLst>
                <a:ext uri="{FF2B5EF4-FFF2-40B4-BE49-F238E27FC236}">
                  <a16:creationId xmlns:a16="http://schemas.microsoft.com/office/drawing/2014/main" id="{0CB3CEC0-3A82-8594-04F3-F0272DBAEB88}"/>
                </a:ext>
              </a:extLst>
            </p:cNvPr>
            <p:cNvSpPr/>
            <p:nvPr/>
          </p:nvSpPr>
          <p:spPr>
            <a:xfrm rot="10800000">
              <a:off x="1299325" y="1325475"/>
              <a:ext cx="481200" cy="48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4">
              <a:extLst>
                <a:ext uri="{FF2B5EF4-FFF2-40B4-BE49-F238E27FC236}">
                  <a16:creationId xmlns:a16="http://schemas.microsoft.com/office/drawing/2014/main" id="{13E64E1A-7B56-90F0-6DF2-33C1D2359555}"/>
                </a:ext>
              </a:extLst>
            </p:cNvPr>
            <p:cNvSpPr txBox="1"/>
            <p:nvPr/>
          </p:nvSpPr>
          <p:spPr>
            <a:xfrm>
              <a:off x="736525" y="3454375"/>
              <a:ext cx="1606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523" name="Google Shape;523;p24">
              <a:extLst>
                <a:ext uri="{FF2B5EF4-FFF2-40B4-BE49-F238E27FC236}">
                  <a16:creationId xmlns:a16="http://schemas.microsoft.com/office/drawing/2014/main" id="{55257F37-CC18-F893-68BD-B96CA518821E}"/>
                </a:ext>
              </a:extLst>
            </p:cNvPr>
            <p:cNvSpPr/>
            <p:nvPr/>
          </p:nvSpPr>
          <p:spPr>
            <a:xfrm>
              <a:off x="7102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Regular Entities</a:t>
              </a:r>
              <a:endParaRPr lang="en-US"/>
            </a:p>
          </p:txBody>
        </p:sp>
      </p:grpSp>
      <p:grpSp>
        <p:nvGrpSpPr>
          <p:cNvPr id="544" name="Google Shape;544;p24">
            <a:extLst>
              <a:ext uri="{FF2B5EF4-FFF2-40B4-BE49-F238E27FC236}">
                <a16:creationId xmlns:a16="http://schemas.microsoft.com/office/drawing/2014/main" id="{4B2BF54B-3D6B-D9B1-EBCC-E76B55A3162F}"/>
              </a:ext>
            </a:extLst>
          </p:cNvPr>
          <p:cNvGrpSpPr/>
          <p:nvPr/>
        </p:nvGrpSpPr>
        <p:grpSpPr>
          <a:xfrm>
            <a:off x="2936123" y="1429722"/>
            <a:ext cx="239701" cy="272713"/>
            <a:chOff x="6264525" y="842250"/>
            <a:chExt cx="423500" cy="481825"/>
          </a:xfrm>
        </p:grpSpPr>
        <p:sp>
          <p:nvSpPr>
            <p:cNvPr id="545" name="Google Shape;545;p24">
              <a:extLst>
                <a:ext uri="{FF2B5EF4-FFF2-40B4-BE49-F238E27FC236}">
                  <a16:creationId xmlns:a16="http://schemas.microsoft.com/office/drawing/2014/main" id="{BA7C1E13-8335-A507-5750-E4AC062C1825}"/>
                </a:ext>
              </a:extLst>
            </p:cNvPr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>
              <a:extLst>
                <a:ext uri="{FF2B5EF4-FFF2-40B4-BE49-F238E27FC236}">
                  <a16:creationId xmlns:a16="http://schemas.microsoft.com/office/drawing/2014/main" id="{49C15632-B2C2-F285-1924-16D080EFC81B}"/>
                </a:ext>
              </a:extLst>
            </p:cNvPr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>
              <a:extLst>
                <a:ext uri="{FF2B5EF4-FFF2-40B4-BE49-F238E27FC236}">
                  <a16:creationId xmlns:a16="http://schemas.microsoft.com/office/drawing/2014/main" id="{6FE649D4-484C-B925-C91E-06314DDABCE5}"/>
                </a:ext>
              </a:extLst>
            </p:cNvPr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>
              <a:extLst>
                <a:ext uri="{FF2B5EF4-FFF2-40B4-BE49-F238E27FC236}">
                  <a16:creationId xmlns:a16="http://schemas.microsoft.com/office/drawing/2014/main" id="{24A59E82-E852-49FB-198E-018606F597D0}"/>
                </a:ext>
              </a:extLst>
            </p:cNvPr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9" name="Google Shape;549;p24">
              <a:extLst>
                <a:ext uri="{FF2B5EF4-FFF2-40B4-BE49-F238E27FC236}">
                  <a16:creationId xmlns:a16="http://schemas.microsoft.com/office/drawing/2014/main" id="{0C646FEF-A8DC-F66A-421E-85D02E085C41}"/>
                </a:ext>
              </a:extLst>
            </p:cNvPr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0" name="Google Shape;550;p24">
              <a:extLst>
                <a:ext uri="{FF2B5EF4-FFF2-40B4-BE49-F238E27FC236}">
                  <a16:creationId xmlns:a16="http://schemas.microsoft.com/office/drawing/2014/main" id="{FDA0432B-3C63-45E6-AFE2-E9ED01C8A95F}"/>
                </a:ext>
              </a:extLst>
            </p:cNvPr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>
              <a:extLst>
                <a:ext uri="{FF2B5EF4-FFF2-40B4-BE49-F238E27FC236}">
                  <a16:creationId xmlns:a16="http://schemas.microsoft.com/office/drawing/2014/main" id="{F5832E79-DD80-82C0-6BE1-CD78070C70F8}"/>
                </a:ext>
              </a:extLst>
            </p:cNvPr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2" name="Google Shape;552;p24">
            <a:extLst>
              <a:ext uri="{FF2B5EF4-FFF2-40B4-BE49-F238E27FC236}">
                <a16:creationId xmlns:a16="http://schemas.microsoft.com/office/drawing/2014/main" id="{F39894F7-B058-29FF-58F2-9CF83E2A42D3}"/>
              </a:ext>
            </a:extLst>
          </p:cNvPr>
          <p:cNvGrpSpPr/>
          <p:nvPr/>
        </p:nvGrpSpPr>
        <p:grpSpPr>
          <a:xfrm>
            <a:off x="1403569" y="1429722"/>
            <a:ext cx="272713" cy="272713"/>
            <a:chOff x="900750" y="1436075"/>
            <a:chExt cx="481825" cy="481825"/>
          </a:xfrm>
        </p:grpSpPr>
        <p:sp>
          <p:nvSpPr>
            <p:cNvPr id="553" name="Google Shape;553;p24">
              <a:extLst>
                <a:ext uri="{FF2B5EF4-FFF2-40B4-BE49-F238E27FC236}">
                  <a16:creationId xmlns:a16="http://schemas.microsoft.com/office/drawing/2014/main" id="{BF7BC739-D697-3675-19AC-3AD4BB60F599}"/>
                </a:ext>
              </a:extLst>
            </p:cNvPr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4" name="Google Shape;554;p24">
              <a:extLst>
                <a:ext uri="{FF2B5EF4-FFF2-40B4-BE49-F238E27FC236}">
                  <a16:creationId xmlns:a16="http://schemas.microsoft.com/office/drawing/2014/main" id="{D8D319B7-D467-6F44-82B4-2DE386CE5B4F}"/>
                </a:ext>
              </a:extLst>
            </p:cNvPr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5" name="Google Shape;555;p24">
              <a:extLst>
                <a:ext uri="{FF2B5EF4-FFF2-40B4-BE49-F238E27FC236}">
                  <a16:creationId xmlns:a16="http://schemas.microsoft.com/office/drawing/2014/main" id="{986B7F54-7687-855F-70C6-00ABDF47D1E1}"/>
                </a:ext>
              </a:extLst>
            </p:cNvPr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6" name="Google Shape;556;p24">
              <a:extLst>
                <a:ext uri="{FF2B5EF4-FFF2-40B4-BE49-F238E27FC236}">
                  <a16:creationId xmlns:a16="http://schemas.microsoft.com/office/drawing/2014/main" id="{0BF59533-F538-392F-93CA-92E54AE9991A}"/>
                </a:ext>
              </a:extLst>
            </p:cNvPr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7" name="Google Shape;577;p24">
            <a:extLst>
              <a:ext uri="{FF2B5EF4-FFF2-40B4-BE49-F238E27FC236}">
                <a16:creationId xmlns:a16="http://schemas.microsoft.com/office/drawing/2014/main" id="{F467D699-14B5-CDC6-2B59-FFE1B44D880A}"/>
              </a:ext>
            </a:extLst>
          </p:cNvPr>
          <p:cNvGrpSpPr/>
          <p:nvPr/>
        </p:nvGrpSpPr>
        <p:grpSpPr>
          <a:xfrm>
            <a:off x="5950382" y="1429715"/>
            <a:ext cx="275387" cy="272727"/>
            <a:chOff x="5049725" y="1435050"/>
            <a:chExt cx="486550" cy="481850"/>
          </a:xfrm>
        </p:grpSpPr>
        <p:sp>
          <p:nvSpPr>
            <p:cNvPr id="578" name="Google Shape;578;p24">
              <a:extLst>
                <a:ext uri="{FF2B5EF4-FFF2-40B4-BE49-F238E27FC236}">
                  <a16:creationId xmlns:a16="http://schemas.microsoft.com/office/drawing/2014/main" id="{FB9BCB6A-54ED-1589-6D43-591E749D0266}"/>
                </a:ext>
              </a:extLst>
            </p:cNvPr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9" name="Google Shape;579;p24">
              <a:extLst>
                <a:ext uri="{FF2B5EF4-FFF2-40B4-BE49-F238E27FC236}">
                  <a16:creationId xmlns:a16="http://schemas.microsoft.com/office/drawing/2014/main" id="{B7CFA5E2-BA03-F954-F0A8-85B852AD5A01}"/>
                </a:ext>
              </a:extLst>
            </p:cNvPr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0" name="Google Shape;580;p24">
              <a:extLst>
                <a:ext uri="{FF2B5EF4-FFF2-40B4-BE49-F238E27FC236}">
                  <a16:creationId xmlns:a16="http://schemas.microsoft.com/office/drawing/2014/main" id="{C8AED005-BE39-2682-1507-9AE7652B19C7}"/>
                </a:ext>
              </a:extLst>
            </p:cNvPr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>
              <a:extLst>
                <a:ext uri="{FF2B5EF4-FFF2-40B4-BE49-F238E27FC236}">
                  <a16:creationId xmlns:a16="http://schemas.microsoft.com/office/drawing/2014/main" id="{24BB86B7-8615-D9A8-0FE4-31BAB6A545F9}"/>
                </a:ext>
              </a:extLst>
            </p:cNvPr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82" name="Google Shape;582;p24">
            <a:extLst>
              <a:ext uri="{FF2B5EF4-FFF2-40B4-BE49-F238E27FC236}">
                <a16:creationId xmlns:a16="http://schemas.microsoft.com/office/drawing/2014/main" id="{3BAD5118-0391-2467-AC12-9F867BF3053A}"/>
              </a:ext>
            </a:extLst>
          </p:cNvPr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3" name="Google Shape;583;p24">
              <a:extLst>
                <a:ext uri="{FF2B5EF4-FFF2-40B4-BE49-F238E27FC236}">
                  <a16:creationId xmlns:a16="http://schemas.microsoft.com/office/drawing/2014/main" id="{C357BD68-AD0A-2535-9856-00C6F4B1240C}"/>
                </a:ext>
              </a:extLst>
            </p:cNvPr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>
              <a:extLst>
                <a:ext uri="{FF2B5EF4-FFF2-40B4-BE49-F238E27FC236}">
                  <a16:creationId xmlns:a16="http://schemas.microsoft.com/office/drawing/2014/main" id="{BC9D508B-96BE-EF65-1CBD-1B78588BAD01}"/>
                </a:ext>
              </a:extLst>
            </p:cNvPr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>
              <a:extLst>
                <a:ext uri="{FF2B5EF4-FFF2-40B4-BE49-F238E27FC236}">
                  <a16:creationId xmlns:a16="http://schemas.microsoft.com/office/drawing/2014/main" id="{AB455F7A-BC8D-D1D7-56E3-37466C3EB322}"/>
                </a:ext>
              </a:extLst>
            </p:cNvPr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>
              <a:extLst>
                <a:ext uri="{FF2B5EF4-FFF2-40B4-BE49-F238E27FC236}">
                  <a16:creationId xmlns:a16="http://schemas.microsoft.com/office/drawing/2014/main" id="{76E39D4F-3740-7A87-5773-66BB7915EE90}"/>
                </a:ext>
              </a:extLst>
            </p:cNvPr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7" name="Google Shape;587;p24">
              <a:extLst>
                <a:ext uri="{FF2B5EF4-FFF2-40B4-BE49-F238E27FC236}">
                  <a16:creationId xmlns:a16="http://schemas.microsoft.com/office/drawing/2014/main" id="{AEAC0100-D536-111B-D248-B3C325E3E14F}"/>
                </a:ext>
              </a:extLst>
            </p:cNvPr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8" name="Google Shape;588;p24">
              <a:extLst>
                <a:ext uri="{FF2B5EF4-FFF2-40B4-BE49-F238E27FC236}">
                  <a16:creationId xmlns:a16="http://schemas.microsoft.com/office/drawing/2014/main" id="{08104992-63B7-0294-D898-F33D37951D82}"/>
                </a:ext>
              </a:extLst>
            </p:cNvPr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9" name="Google Shape;589;p24">
              <a:extLst>
                <a:ext uri="{FF2B5EF4-FFF2-40B4-BE49-F238E27FC236}">
                  <a16:creationId xmlns:a16="http://schemas.microsoft.com/office/drawing/2014/main" id="{29F11513-3CCA-FA23-1BFF-39C0A597D8D5}"/>
                </a:ext>
              </a:extLst>
            </p:cNvPr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0" name="Google Shape;590;p24">
            <a:extLst>
              <a:ext uri="{FF2B5EF4-FFF2-40B4-BE49-F238E27FC236}">
                <a16:creationId xmlns:a16="http://schemas.microsoft.com/office/drawing/2014/main" id="{35A2A1DD-C91C-59F2-3719-9053AB699E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Mapping Regular Entities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84064-2101-AC89-4DA4-D2BDDAC6BAE1}"/>
              </a:ext>
            </a:extLst>
          </p:cNvPr>
          <p:cNvSpPr txBox="1"/>
          <p:nvPr/>
        </p:nvSpPr>
        <p:spPr>
          <a:xfrm>
            <a:off x="2983229" y="1146213"/>
            <a:ext cx="4817745" cy="36776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User (Primary Key: </a:t>
            </a:r>
            <a:r>
              <a:rPr lang="en-US" err="1">
                <a:solidFill>
                  <a:schemeClr val="tx1"/>
                </a:solidFill>
              </a:rPr>
              <a:t>user_id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Profiles (Primary Key: </a:t>
            </a:r>
            <a:r>
              <a:rPr lang="en-US" err="1">
                <a:solidFill>
                  <a:schemeClr val="tx1"/>
                </a:solidFill>
              </a:rPr>
              <a:t>profile_id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Devices (Primary Key: </a:t>
            </a:r>
            <a:r>
              <a:rPr lang="en-US" err="1">
                <a:solidFill>
                  <a:schemeClr val="tx1"/>
                </a:solidFill>
              </a:rPr>
              <a:t>device_id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Payments (Primary Key: </a:t>
            </a:r>
            <a:r>
              <a:rPr lang="en-US" err="1">
                <a:solidFill>
                  <a:schemeClr val="tx1"/>
                </a:solidFill>
              </a:rPr>
              <a:t>payment_id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Subscription Plans (Primary Key: </a:t>
            </a:r>
            <a:r>
              <a:rPr lang="en-US" err="1">
                <a:solidFill>
                  <a:schemeClr val="tx1"/>
                </a:solidFill>
              </a:rPr>
              <a:t>plan_id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Basic (Primary Key: </a:t>
            </a:r>
            <a:r>
              <a:rPr lang="en-US" err="1">
                <a:solidFill>
                  <a:schemeClr val="tx1"/>
                </a:solidFill>
              </a:rPr>
              <a:t>plan_id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Standard (Primary Key: </a:t>
            </a:r>
            <a:r>
              <a:rPr lang="en-US" err="1">
                <a:solidFill>
                  <a:schemeClr val="tx1"/>
                </a:solidFill>
              </a:rPr>
              <a:t>plan_id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Premium (Primary Key: </a:t>
            </a:r>
            <a:r>
              <a:rPr lang="en-US" err="1">
                <a:solidFill>
                  <a:schemeClr val="tx1"/>
                </a:solidFill>
              </a:rPr>
              <a:t>plan_id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Customer Support (Primary Key: </a:t>
            </a:r>
            <a:r>
              <a:rPr lang="en-US" dirty="0" err="1">
                <a:solidFill>
                  <a:schemeClr val="tx1"/>
                </a:solidFill>
              </a:rPr>
              <a:t>ticket_id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Advertisement (Primary Key: AD_ID)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Content (Primary Key: </a:t>
            </a:r>
            <a:r>
              <a:rPr lang="en-US" err="1">
                <a:solidFill>
                  <a:schemeClr val="tx1"/>
                </a:solidFill>
              </a:rPr>
              <a:t>content_id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err="1">
                <a:solidFill>
                  <a:schemeClr val="tx1"/>
                </a:solidFill>
              </a:rPr>
              <a:t>Actors_Directors</a:t>
            </a:r>
            <a:r>
              <a:rPr lang="en-US" dirty="0">
                <a:solidFill>
                  <a:schemeClr val="tx1"/>
                </a:solidFill>
              </a:rPr>
              <a:t> (Primary Key: </a:t>
            </a:r>
            <a:r>
              <a:rPr lang="en-US" err="1">
                <a:solidFill>
                  <a:schemeClr val="tx1"/>
                </a:solidFill>
              </a:rPr>
              <a:t>person_id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err="1">
                <a:solidFill>
                  <a:schemeClr val="tx1"/>
                </a:solidFill>
              </a:rPr>
              <a:t>Content_Licensing</a:t>
            </a:r>
            <a:r>
              <a:rPr lang="en-US" dirty="0">
                <a:solidFill>
                  <a:schemeClr val="tx1"/>
                </a:solidFill>
              </a:rPr>
              <a:t> (Primary Key: </a:t>
            </a:r>
            <a:r>
              <a:rPr lang="en-US" err="1">
                <a:solidFill>
                  <a:schemeClr val="tx1"/>
                </a:solidFill>
              </a:rPr>
              <a:t>license_id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Episodes (Primary Key: </a:t>
            </a:r>
            <a:r>
              <a:rPr lang="en-US" err="1">
                <a:solidFill>
                  <a:schemeClr val="tx1"/>
                </a:solidFill>
              </a:rPr>
              <a:t>episode_id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Reviews (Primary Key: </a:t>
            </a:r>
            <a:r>
              <a:rPr lang="en-US" err="1">
                <a:solidFill>
                  <a:schemeClr val="tx1"/>
                </a:solidFill>
              </a:rPr>
              <a:t>review_id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199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2E8C6098-E2E5-A29C-FD92-928FD935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24">
            <a:extLst>
              <a:ext uri="{FF2B5EF4-FFF2-40B4-BE49-F238E27FC236}">
                <a16:creationId xmlns:a16="http://schemas.microsoft.com/office/drawing/2014/main" id="{EDD7EEF8-560F-FCD3-09CE-BD4B069A71BF}"/>
              </a:ext>
            </a:extLst>
          </p:cNvPr>
          <p:cNvGrpSpPr/>
          <p:nvPr/>
        </p:nvGrpSpPr>
        <p:grpSpPr>
          <a:xfrm>
            <a:off x="711850" y="1371195"/>
            <a:ext cx="1659300" cy="2862400"/>
            <a:chOff x="2226325" y="1325475"/>
            <a:chExt cx="1659300" cy="2862400"/>
          </a:xfrm>
        </p:grpSpPr>
        <p:cxnSp>
          <p:nvCxnSpPr>
            <p:cNvPr id="525" name="Google Shape;525;p24">
              <a:extLst>
                <a:ext uri="{FF2B5EF4-FFF2-40B4-BE49-F238E27FC236}">
                  <a16:creationId xmlns:a16="http://schemas.microsoft.com/office/drawing/2014/main" id="{5A2CF0C4-9E58-D849-EF60-18E1ECA40C3F}"/>
                </a:ext>
              </a:extLst>
            </p:cNvPr>
            <p:cNvCxnSpPr>
              <a:stCxn id="526" idx="0"/>
            </p:cNvCxnSpPr>
            <p:nvPr/>
          </p:nvCxnSpPr>
          <p:spPr>
            <a:xfrm>
              <a:off x="305597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6" name="Google Shape;526;p24">
              <a:extLst>
                <a:ext uri="{FF2B5EF4-FFF2-40B4-BE49-F238E27FC236}">
                  <a16:creationId xmlns:a16="http://schemas.microsoft.com/office/drawing/2014/main" id="{C0DBC355-88BE-C90F-7EF2-D8775FA2732D}"/>
                </a:ext>
              </a:extLst>
            </p:cNvPr>
            <p:cNvSpPr/>
            <p:nvPr/>
          </p:nvSpPr>
          <p:spPr>
            <a:xfrm rot="10800000">
              <a:off x="2815375" y="1325475"/>
              <a:ext cx="481200" cy="481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4">
              <a:extLst>
                <a:ext uri="{FF2B5EF4-FFF2-40B4-BE49-F238E27FC236}">
                  <a16:creationId xmlns:a16="http://schemas.microsoft.com/office/drawing/2014/main" id="{D122B388-0B98-E04A-5972-B180A866DED1}"/>
                </a:ext>
              </a:extLst>
            </p:cNvPr>
            <p:cNvSpPr/>
            <p:nvPr/>
          </p:nvSpPr>
          <p:spPr>
            <a:xfrm>
              <a:off x="222632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Weak Entities</a:t>
              </a:r>
              <a:endParaRPr lang="en-US" dirty="0"/>
            </a:p>
          </p:txBody>
        </p:sp>
        <p:sp>
          <p:nvSpPr>
            <p:cNvPr id="528" name="Google Shape;528;p24">
              <a:extLst>
                <a:ext uri="{FF2B5EF4-FFF2-40B4-BE49-F238E27FC236}">
                  <a16:creationId xmlns:a16="http://schemas.microsoft.com/office/drawing/2014/main" id="{CBBE5099-B7B7-8770-6FEA-97DBC30927B5}"/>
                </a:ext>
              </a:extLst>
            </p:cNvPr>
            <p:cNvSpPr txBox="1"/>
            <p:nvPr/>
          </p:nvSpPr>
          <p:spPr>
            <a:xfrm>
              <a:off x="22852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44" name="Google Shape;544;p24">
            <a:extLst>
              <a:ext uri="{FF2B5EF4-FFF2-40B4-BE49-F238E27FC236}">
                <a16:creationId xmlns:a16="http://schemas.microsoft.com/office/drawing/2014/main" id="{CE2CC4E8-ECAF-058B-37AB-9177CB596D41}"/>
              </a:ext>
            </a:extLst>
          </p:cNvPr>
          <p:cNvGrpSpPr/>
          <p:nvPr/>
        </p:nvGrpSpPr>
        <p:grpSpPr>
          <a:xfrm>
            <a:off x="1421648" y="1441152"/>
            <a:ext cx="239701" cy="272713"/>
            <a:chOff x="6264525" y="842250"/>
            <a:chExt cx="423500" cy="481825"/>
          </a:xfrm>
        </p:grpSpPr>
        <p:sp>
          <p:nvSpPr>
            <p:cNvPr id="545" name="Google Shape;545;p24">
              <a:extLst>
                <a:ext uri="{FF2B5EF4-FFF2-40B4-BE49-F238E27FC236}">
                  <a16:creationId xmlns:a16="http://schemas.microsoft.com/office/drawing/2014/main" id="{6CAE6B83-B89E-E27C-25D1-AD13BE8DB823}"/>
                </a:ext>
              </a:extLst>
            </p:cNvPr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>
              <a:extLst>
                <a:ext uri="{FF2B5EF4-FFF2-40B4-BE49-F238E27FC236}">
                  <a16:creationId xmlns:a16="http://schemas.microsoft.com/office/drawing/2014/main" id="{BE9A4B69-EDCD-36CF-8FDC-7082281B3449}"/>
                </a:ext>
              </a:extLst>
            </p:cNvPr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>
              <a:extLst>
                <a:ext uri="{FF2B5EF4-FFF2-40B4-BE49-F238E27FC236}">
                  <a16:creationId xmlns:a16="http://schemas.microsoft.com/office/drawing/2014/main" id="{A238038D-69CC-106E-8C51-39D0B8AC9FE1}"/>
                </a:ext>
              </a:extLst>
            </p:cNvPr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>
              <a:extLst>
                <a:ext uri="{FF2B5EF4-FFF2-40B4-BE49-F238E27FC236}">
                  <a16:creationId xmlns:a16="http://schemas.microsoft.com/office/drawing/2014/main" id="{67087F25-2DE1-3012-4E55-7B004CDFC7BB}"/>
                </a:ext>
              </a:extLst>
            </p:cNvPr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9" name="Google Shape;549;p24">
              <a:extLst>
                <a:ext uri="{FF2B5EF4-FFF2-40B4-BE49-F238E27FC236}">
                  <a16:creationId xmlns:a16="http://schemas.microsoft.com/office/drawing/2014/main" id="{1726F576-46BE-4C46-3AAD-0E8211B80E4F}"/>
                </a:ext>
              </a:extLst>
            </p:cNvPr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0" name="Google Shape;550;p24">
              <a:extLst>
                <a:ext uri="{FF2B5EF4-FFF2-40B4-BE49-F238E27FC236}">
                  <a16:creationId xmlns:a16="http://schemas.microsoft.com/office/drawing/2014/main" id="{D81D045F-7F68-9FC3-082D-F12C6C93BF92}"/>
                </a:ext>
              </a:extLst>
            </p:cNvPr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>
              <a:extLst>
                <a:ext uri="{FF2B5EF4-FFF2-40B4-BE49-F238E27FC236}">
                  <a16:creationId xmlns:a16="http://schemas.microsoft.com/office/drawing/2014/main" id="{500C495B-B5BE-379C-A725-7A54F707A62E}"/>
                </a:ext>
              </a:extLst>
            </p:cNvPr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7" name="Google Shape;557;p24">
            <a:extLst>
              <a:ext uri="{FF2B5EF4-FFF2-40B4-BE49-F238E27FC236}">
                <a16:creationId xmlns:a16="http://schemas.microsoft.com/office/drawing/2014/main" id="{24CBB7B9-6AE5-2940-069A-28D41B90BD93}"/>
              </a:ext>
            </a:extLst>
          </p:cNvPr>
          <p:cNvGrpSpPr/>
          <p:nvPr/>
        </p:nvGrpSpPr>
        <p:grpSpPr>
          <a:xfrm>
            <a:off x="4435663" y="1429722"/>
            <a:ext cx="272713" cy="272713"/>
            <a:chOff x="4456875" y="1435075"/>
            <a:chExt cx="481825" cy="481825"/>
          </a:xfrm>
        </p:grpSpPr>
        <p:sp>
          <p:nvSpPr>
            <p:cNvPr id="558" name="Google Shape;558;p24">
              <a:extLst>
                <a:ext uri="{FF2B5EF4-FFF2-40B4-BE49-F238E27FC236}">
                  <a16:creationId xmlns:a16="http://schemas.microsoft.com/office/drawing/2014/main" id="{CB0F1A68-CC38-EF8F-FB25-3768E0D6418F}"/>
                </a:ext>
              </a:extLst>
            </p:cNvPr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>
              <a:extLst>
                <a:ext uri="{FF2B5EF4-FFF2-40B4-BE49-F238E27FC236}">
                  <a16:creationId xmlns:a16="http://schemas.microsoft.com/office/drawing/2014/main" id="{CF2E3A88-0416-2EB7-D021-FAAD27D66220}"/>
                </a:ext>
              </a:extLst>
            </p:cNvPr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>
              <a:extLst>
                <a:ext uri="{FF2B5EF4-FFF2-40B4-BE49-F238E27FC236}">
                  <a16:creationId xmlns:a16="http://schemas.microsoft.com/office/drawing/2014/main" id="{33EC52CE-12E3-B39D-B4A8-3BE8048582C2}"/>
                </a:ext>
              </a:extLst>
            </p:cNvPr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>
              <a:extLst>
                <a:ext uri="{FF2B5EF4-FFF2-40B4-BE49-F238E27FC236}">
                  <a16:creationId xmlns:a16="http://schemas.microsoft.com/office/drawing/2014/main" id="{A619470F-0408-FD78-381D-E8696E6CE6DF}"/>
                </a:ext>
              </a:extLst>
            </p:cNvPr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>
              <a:extLst>
                <a:ext uri="{FF2B5EF4-FFF2-40B4-BE49-F238E27FC236}">
                  <a16:creationId xmlns:a16="http://schemas.microsoft.com/office/drawing/2014/main" id="{A9B3FFF5-9290-86EB-258A-8FB404DEA224}"/>
                </a:ext>
              </a:extLst>
            </p:cNvPr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>
              <a:extLst>
                <a:ext uri="{FF2B5EF4-FFF2-40B4-BE49-F238E27FC236}">
                  <a16:creationId xmlns:a16="http://schemas.microsoft.com/office/drawing/2014/main" id="{74C791F7-127F-E9F2-0F0B-CF145AC117C0}"/>
                </a:ext>
              </a:extLst>
            </p:cNvPr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>
              <a:extLst>
                <a:ext uri="{FF2B5EF4-FFF2-40B4-BE49-F238E27FC236}">
                  <a16:creationId xmlns:a16="http://schemas.microsoft.com/office/drawing/2014/main" id="{309932E7-120D-5505-61F9-F18FC196ED69}"/>
                </a:ext>
              </a:extLst>
            </p:cNvPr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>
              <a:extLst>
                <a:ext uri="{FF2B5EF4-FFF2-40B4-BE49-F238E27FC236}">
                  <a16:creationId xmlns:a16="http://schemas.microsoft.com/office/drawing/2014/main" id="{6B67458F-E356-4718-432F-61F4FA3DCCAA}"/>
                </a:ext>
              </a:extLst>
            </p:cNvPr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>
              <a:extLst>
                <a:ext uri="{FF2B5EF4-FFF2-40B4-BE49-F238E27FC236}">
                  <a16:creationId xmlns:a16="http://schemas.microsoft.com/office/drawing/2014/main" id="{46CE5B60-E521-4CF4-48A7-E02D692280E8}"/>
                </a:ext>
              </a:extLst>
            </p:cNvPr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>
              <a:extLst>
                <a:ext uri="{FF2B5EF4-FFF2-40B4-BE49-F238E27FC236}">
                  <a16:creationId xmlns:a16="http://schemas.microsoft.com/office/drawing/2014/main" id="{15D1C1CF-E215-0F3E-0AFB-3C2C93C172A1}"/>
                </a:ext>
              </a:extLst>
            </p:cNvPr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>
              <a:extLst>
                <a:ext uri="{FF2B5EF4-FFF2-40B4-BE49-F238E27FC236}">
                  <a16:creationId xmlns:a16="http://schemas.microsoft.com/office/drawing/2014/main" id="{094A49C5-5975-9349-DD59-995768A1F04C}"/>
                </a:ext>
              </a:extLst>
            </p:cNvPr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>
              <a:extLst>
                <a:ext uri="{FF2B5EF4-FFF2-40B4-BE49-F238E27FC236}">
                  <a16:creationId xmlns:a16="http://schemas.microsoft.com/office/drawing/2014/main" id="{E1BA896E-086C-690D-07C1-12969A444E71}"/>
                </a:ext>
              </a:extLst>
            </p:cNvPr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>
              <a:extLst>
                <a:ext uri="{FF2B5EF4-FFF2-40B4-BE49-F238E27FC236}">
                  <a16:creationId xmlns:a16="http://schemas.microsoft.com/office/drawing/2014/main" id="{9E7F88E5-D3AB-CA6D-125B-09715AC7FAF6}"/>
                </a:ext>
              </a:extLst>
            </p:cNvPr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>
              <a:extLst>
                <a:ext uri="{FF2B5EF4-FFF2-40B4-BE49-F238E27FC236}">
                  <a16:creationId xmlns:a16="http://schemas.microsoft.com/office/drawing/2014/main" id="{1A99CEE1-9ED8-8D9E-FC00-961189F98884}"/>
                </a:ext>
              </a:extLst>
            </p:cNvPr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>
              <a:extLst>
                <a:ext uri="{FF2B5EF4-FFF2-40B4-BE49-F238E27FC236}">
                  <a16:creationId xmlns:a16="http://schemas.microsoft.com/office/drawing/2014/main" id="{A29AC74D-D879-34FD-DADF-DE76CAF7D7F1}"/>
                </a:ext>
              </a:extLst>
            </p:cNvPr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>
              <a:extLst>
                <a:ext uri="{FF2B5EF4-FFF2-40B4-BE49-F238E27FC236}">
                  <a16:creationId xmlns:a16="http://schemas.microsoft.com/office/drawing/2014/main" id="{8174E7EC-A530-CC0F-9DB6-80A31873A028}"/>
                </a:ext>
              </a:extLst>
            </p:cNvPr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4" name="Google Shape;574;p24">
              <a:extLst>
                <a:ext uri="{FF2B5EF4-FFF2-40B4-BE49-F238E27FC236}">
                  <a16:creationId xmlns:a16="http://schemas.microsoft.com/office/drawing/2014/main" id="{63D0BD7A-345F-36B6-1E62-985F180A7CD3}"/>
                </a:ext>
              </a:extLst>
            </p:cNvPr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5" name="Google Shape;575;p24">
              <a:extLst>
                <a:ext uri="{FF2B5EF4-FFF2-40B4-BE49-F238E27FC236}">
                  <a16:creationId xmlns:a16="http://schemas.microsoft.com/office/drawing/2014/main" id="{72A1C522-43AF-71F5-E1B0-E49DFCA207A4}"/>
                </a:ext>
              </a:extLst>
            </p:cNvPr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>
              <a:extLst>
                <a:ext uri="{FF2B5EF4-FFF2-40B4-BE49-F238E27FC236}">
                  <a16:creationId xmlns:a16="http://schemas.microsoft.com/office/drawing/2014/main" id="{BD90814D-EB9C-8F6C-0D83-2C19FD6E7F6E}"/>
                </a:ext>
              </a:extLst>
            </p:cNvPr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7" name="Google Shape;577;p24">
            <a:extLst>
              <a:ext uri="{FF2B5EF4-FFF2-40B4-BE49-F238E27FC236}">
                <a16:creationId xmlns:a16="http://schemas.microsoft.com/office/drawing/2014/main" id="{E6D65F18-D3C3-98DB-C228-DAD19DAD93B3}"/>
              </a:ext>
            </a:extLst>
          </p:cNvPr>
          <p:cNvGrpSpPr/>
          <p:nvPr/>
        </p:nvGrpSpPr>
        <p:grpSpPr>
          <a:xfrm>
            <a:off x="5950382" y="1429715"/>
            <a:ext cx="275387" cy="272727"/>
            <a:chOff x="5049725" y="1435050"/>
            <a:chExt cx="486550" cy="481850"/>
          </a:xfrm>
        </p:grpSpPr>
        <p:sp>
          <p:nvSpPr>
            <p:cNvPr id="578" name="Google Shape;578;p24">
              <a:extLst>
                <a:ext uri="{FF2B5EF4-FFF2-40B4-BE49-F238E27FC236}">
                  <a16:creationId xmlns:a16="http://schemas.microsoft.com/office/drawing/2014/main" id="{F0781D49-47CE-3F7B-35D2-35B9D7E48792}"/>
                </a:ext>
              </a:extLst>
            </p:cNvPr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9" name="Google Shape;579;p24">
              <a:extLst>
                <a:ext uri="{FF2B5EF4-FFF2-40B4-BE49-F238E27FC236}">
                  <a16:creationId xmlns:a16="http://schemas.microsoft.com/office/drawing/2014/main" id="{25588C77-1F59-19ED-8671-54BD68F4B414}"/>
                </a:ext>
              </a:extLst>
            </p:cNvPr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0" name="Google Shape;580;p24">
              <a:extLst>
                <a:ext uri="{FF2B5EF4-FFF2-40B4-BE49-F238E27FC236}">
                  <a16:creationId xmlns:a16="http://schemas.microsoft.com/office/drawing/2014/main" id="{3CCD911C-F078-159E-FB0C-9EB22EA74279}"/>
                </a:ext>
              </a:extLst>
            </p:cNvPr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>
              <a:extLst>
                <a:ext uri="{FF2B5EF4-FFF2-40B4-BE49-F238E27FC236}">
                  <a16:creationId xmlns:a16="http://schemas.microsoft.com/office/drawing/2014/main" id="{8CF64CA6-C85D-3EE5-0FA0-80438AFB0A5F}"/>
                </a:ext>
              </a:extLst>
            </p:cNvPr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82" name="Google Shape;582;p24">
            <a:extLst>
              <a:ext uri="{FF2B5EF4-FFF2-40B4-BE49-F238E27FC236}">
                <a16:creationId xmlns:a16="http://schemas.microsoft.com/office/drawing/2014/main" id="{9C1DC6F3-A02C-E45B-6D46-BD97FA438587}"/>
              </a:ext>
            </a:extLst>
          </p:cNvPr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3" name="Google Shape;583;p24">
              <a:extLst>
                <a:ext uri="{FF2B5EF4-FFF2-40B4-BE49-F238E27FC236}">
                  <a16:creationId xmlns:a16="http://schemas.microsoft.com/office/drawing/2014/main" id="{6AD15AA0-F693-C4F3-7ECD-B98DD5EB77FE}"/>
                </a:ext>
              </a:extLst>
            </p:cNvPr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>
              <a:extLst>
                <a:ext uri="{FF2B5EF4-FFF2-40B4-BE49-F238E27FC236}">
                  <a16:creationId xmlns:a16="http://schemas.microsoft.com/office/drawing/2014/main" id="{BE446535-E800-5313-E77C-A0F3669473B6}"/>
                </a:ext>
              </a:extLst>
            </p:cNvPr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>
              <a:extLst>
                <a:ext uri="{FF2B5EF4-FFF2-40B4-BE49-F238E27FC236}">
                  <a16:creationId xmlns:a16="http://schemas.microsoft.com/office/drawing/2014/main" id="{7796EC62-1153-4482-561F-6CE1D2093739}"/>
                </a:ext>
              </a:extLst>
            </p:cNvPr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>
              <a:extLst>
                <a:ext uri="{FF2B5EF4-FFF2-40B4-BE49-F238E27FC236}">
                  <a16:creationId xmlns:a16="http://schemas.microsoft.com/office/drawing/2014/main" id="{64ED3DE2-3968-816F-1544-88C9F7501C90}"/>
                </a:ext>
              </a:extLst>
            </p:cNvPr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7" name="Google Shape;587;p24">
              <a:extLst>
                <a:ext uri="{FF2B5EF4-FFF2-40B4-BE49-F238E27FC236}">
                  <a16:creationId xmlns:a16="http://schemas.microsoft.com/office/drawing/2014/main" id="{3FE1919B-DF62-ADCB-1164-060676DC4DD7}"/>
                </a:ext>
              </a:extLst>
            </p:cNvPr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8" name="Google Shape;588;p24">
              <a:extLst>
                <a:ext uri="{FF2B5EF4-FFF2-40B4-BE49-F238E27FC236}">
                  <a16:creationId xmlns:a16="http://schemas.microsoft.com/office/drawing/2014/main" id="{59018D7F-2CAB-35BB-20A2-36E6115100E8}"/>
                </a:ext>
              </a:extLst>
            </p:cNvPr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9" name="Google Shape;589;p24">
              <a:extLst>
                <a:ext uri="{FF2B5EF4-FFF2-40B4-BE49-F238E27FC236}">
                  <a16:creationId xmlns:a16="http://schemas.microsoft.com/office/drawing/2014/main" id="{98DE836B-1E84-9DA2-8DF4-4154043A1CE6}"/>
                </a:ext>
              </a:extLst>
            </p:cNvPr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0" name="Google Shape;590;p24">
            <a:extLst>
              <a:ext uri="{FF2B5EF4-FFF2-40B4-BE49-F238E27FC236}">
                <a16:creationId xmlns:a16="http://schemas.microsoft.com/office/drawing/2014/main" id="{14AC5E7F-29B1-7DBA-A7BC-6D63D18C5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Mapping Weak Entities</a:t>
            </a:r>
          </a:p>
        </p:txBody>
      </p:sp>
      <p:pic>
        <p:nvPicPr>
          <p:cNvPr id="2" name="Picture 1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25ABADD2-0FE8-4520-BD98-FF3C4F08C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056" y="1338399"/>
            <a:ext cx="2449830" cy="69342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6" name="Picture 5" descr="A close-up of a label&#10;&#10;AI-generated content may be incorrect.">
            <a:extLst>
              <a:ext uri="{FF2B5EF4-FFF2-40B4-BE49-F238E27FC236}">
                <a16:creationId xmlns:a16="http://schemas.microsoft.com/office/drawing/2014/main" id="{549C4756-0799-5D7D-FB9F-BBA68BF07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009" y="3900420"/>
            <a:ext cx="1929064" cy="904376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7" name="Picture 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5B5B6FF-1931-ECB1-45D0-71526E172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44" y="3901110"/>
            <a:ext cx="1929065" cy="900363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D29502C0-2C44-0A1B-503A-9E816F682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355" y="3899904"/>
            <a:ext cx="2292161" cy="90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F729FC65-0CA9-4A9A-7985-866E8192E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8058" y="2422372"/>
            <a:ext cx="6243485" cy="10515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114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D357CBE5-8BFB-8709-7D26-100C06B3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24">
            <a:extLst>
              <a:ext uri="{FF2B5EF4-FFF2-40B4-BE49-F238E27FC236}">
                <a16:creationId xmlns:a16="http://schemas.microsoft.com/office/drawing/2014/main" id="{CED41665-6861-C5A6-928D-EEDFC1164E1B}"/>
              </a:ext>
            </a:extLst>
          </p:cNvPr>
          <p:cNvGrpSpPr/>
          <p:nvPr/>
        </p:nvGrpSpPr>
        <p:grpSpPr>
          <a:xfrm>
            <a:off x="483451" y="1426754"/>
            <a:ext cx="1659300" cy="2862400"/>
            <a:chOff x="3742375" y="1325475"/>
            <a:chExt cx="1659300" cy="2862400"/>
          </a:xfrm>
        </p:grpSpPr>
        <p:cxnSp>
          <p:nvCxnSpPr>
            <p:cNvPr id="530" name="Google Shape;530;p24">
              <a:extLst>
                <a:ext uri="{FF2B5EF4-FFF2-40B4-BE49-F238E27FC236}">
                  <a16:creationId xmlns:a16="http://schemas.microsoft.com/office/drawing/2014/main" id="{798269AA-A935-A24F-C88A-78B3D72BD9A7}"/>
                </a:ext>
              </a:extLst>
            </p:cNvPr>
            <p:cNvCxnSpPr>
              <a:stCxn id="531" idx="0"/>
            </p:cNvCxnSpPr>
            <p:nvPr/>
          </p:nvCxnSpPr>
          <p:spPr>
            <a:xfrm>
              <a:off x="45720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1" name="Google Shape;531;p24">
              <a:extLst>
                <a:ext uri="{FF2B5EF4-FFF2-40B4-BE49-F238E27FC236}">
                  <a16:creationId xmlns:a16="http://schemas.microsoft.com/office/drawing/2014/main" id="{363E66F4-764F-462F-FD69-5112FFA64266}"/>
                </a:ext>
              </a:extLst>
            </p:cNvPr>
            <p:cNvSpPr/>
            <p:nvPr/>
          </p:nvSpPr>
          <p:spPr>
            <a:xfrm rot="10800000">
              <a:off x="4331425" y="1325475"/>
              <a:ext cx="481200" cy="4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4">
              <a:extLst>
                <a:ext uri="{FF2B5EF4-FFF2-40B4-BE49-F238E27FC236}">
                  <a16:creationId xmlns:a16="http://schemas.microsoft.com/office/drawing/2014/main" id="{E1D5A83D-DBBE-7067-57D0-27DCD9ED6A8E}"/>
                </a:ext>
              </a:extLst>
            </p:cNvPr>
            <p:cNvSpPr/>
            <p:nvPr/>
          </p:nvSpPr>
          <p:spPr>
            <a:xfrm>
              <a:off x="37423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Binary Relationships</a:t>
              </a:r>
              <a:endParaRPr lang="en-US" sz="1200" dirty="0"/>
            </a:p>
          </p:txBody>
        </p:sp>
        <p:sp>
          <p:nvSpPr>
            <p:cNvPr id="533" name="Google Shape;533;p24">
              <a:extLst>
                <a:ext uri="{FF2B5EF4-FFF2-40B4-BE49-F238E27FC236}">
                  <a16:creationId xmlns:a16="http://schemas.microsoft.com/office/drawing/2014/main" id="{3F62F9E5-CEAD-5D76-B879-422206FC12F9}"/>
                </a:ext>
              </a:extLst>
            </p:cNvPr>
            <p:cNvSpPr txBox="1"/>
            <p:nvPr/>
          </p:nvSpPr>
          <p:spPr>
            <a:xfrm>
              <a:off x="38013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57" name="Google Shape;557;p24">
            <a:extLst>
              <a:ext uri="{FF2B5EF4-FFF2-40B4-BE49-F238E27FC236}">
                <a16:creationId xmlns:a16="http://schemas.microsoft.com/office/drawing/2014/main" id="{B4FA45E5-167E-BA62-FA85-7865FC2288A5}"/>
              </a:ext>
            </a:extLst>
          </p:cNvPr>
          <p:cNvGrpSpPr/>
          <p:nvPr/>
        </p:nvGrpSpPr>
        <p:grpSpPr>
          <a:xfrm>
            <a:off x="1176739" y="1552703"/>
            <a:ext cx="272713" cy="272713"/>
            <a:chOff x="4456875" y="1435075"/>
            <a:chExt cx="481825" cy="481825"/>
          </a:xfrm>
        </p:grpSpPr>
        <p:sp>
          <p:nvSpPr>
            <p:cNvPr id="558" name="Google Shape;558;p24">
              <a:extLst>
                <a:ext uri="{FF2B5EF4-FFF2-40B4-BE49-F238E27FC236}">
                  <a16:creationId xmlns:a16="http://schemas.microsoft.com/office/drawing/2014/main" id="{33F7AC4B-06F3-3E4A-DFCB-34D3C5FF7434}"/>
                </a:ext>
              </a:extLst>
            </p:cNvPr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>
              <a:extLst>
                <a:ext uri="{FF2B5EF4-FFF2-40B4-BE49-F238E27FC236}">
                  <a16:creationId xmlns:a16="http://schemas.microsoft.com/office/drawing/2014/main" id="{7DE8C0EE-A6BB-F96D-2CCE-7E56FDD97354}"/>
                </a:ext>
              </a:extLst>
            </p:cNvPr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>
              <a:extLst>
                <a:ext uri="{FF2B5EF4-FFF2-40B4-BE49-F238E27FC236}">
                  <a16:creationId xmlns:a16="http://schemas.microsoft.com/office/drawing/2014/main" id="{819E5A30-3D31-70EA-C4DA-9F7228A40106}"/>
                </a:ext>
              </a:extLst>
            </p:cNvPr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>
              <a:extLst>
                <a:ext uri="{FF2B5EF4-FFF2-40B4-BE49-F238E27FC236}">
                  <a16:creationId xmlns:a16="http://schemas.microsoft.com/office/drawing/2014/main" id="{F6424AE2-8AA5-F356-B031-67FA2A33D90B}"/>
                </a:ext>
              </a:extLst>
            </p:cNvPr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>
              <a:extLst>
                <a:ext uri="{FF2B5EF4-FFF2-40B4-BE49-F238E27FC236}">
                  <a16:creationId xmlns:a16="http://schemas.microsoft.com/office/drawing/2014/main" id="{4253A60B-1338-C528-C709-591207C52E49}"/>
                </a:ext>
              </a:extLst>
            </p:cNvPr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>
              <a:extLst>
                <a:ext uri="{FF2B5EF4-FFF2-40B4-BE49-F238E27FC236}">
                  <a16:creationId xmlns:a16="http://schemas.microsoft.com/office/drawing/2014/main" id="{7C46F3F2-8230-8C04-0DEC-94F1D73145FD}"/>
                </a:ext>
              </a:extLst>
            </p:cNvPr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>
              <a:extLst>
                <a:ext uri="{FF2B5EF4-FFF2-40B4-BE49-F238E27FC236}">
                  <a16:creationId xmlns:a16="http://schemas.microsoft.com/office/drawing/2014/main" id="{BAA31C08-DCDC-49B8-5278-88FDC458B922}"/>
                </a:ext>
              </a:extLst>
            </p:cNvPr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>
              <a:extLst>
                <a:ext uri="{FF2B5EF4-FFF2-40B4-BE49-F238E27FC236}">
                  <a16:creationId xmlns:a16="http://schemas.microsoft.com/office/drawing/2014/main" id="{E7697FA6-6B6C-CF20-96D8-97631EBA94E2}"/>
                </a:ext>
              </a:extLst>
            </p:cNvPr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>
              <a:extLst>
                <a:ext uri="{FF2B5EF4-FFF2-40B4-BE49-F238E27FC236}">
                  <a16:creationId xmlns:a16="http://schemas.microsoft.com/office/drawing/2014/main" id="{50C0C889-F739-3022-D6CB-78CF7D877BEC}"/>
                </a:ext>
              </a:extLst>
            </p:cNvPr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>
              <a:extLst>
                <a:ext uri="{FF2B5EF4-FFF2-40B4-BE49-F238E27FC236}">
                  <a16:creationId xmlns:a16="http://schemas.microsoft.com/office/drawing/2014/main" id="{4C5B267D-2178-B4E8-FC45-20BB66C83763}"/>
                </a:ext>
              </a:extLst>
            </p:cNvPr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>
              <a:extLst>
                <a:ext uri="{FF2B5EF4-FFF2-40B4-BE49-F238E27FC236}">
                  <a16:creationId xmlns:a16="http://schemas.microsoft.com/office/drawing/2014/main" id="{A7E8AF04-25BF-677E-E17F-D92C6E23763E}"/>
                </a:ext>
              </a:extLst>
            </p:cNvPr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>
              <a:extLst>
                <a:ext uri="{FF2B5EF4-FFF2-40B4-BE49-F238E27FC236}">
                  <a16:creationId xmlns:a16="http://schemas.microsoft.com/office/drawing/2014/main" id="{BF88F90E-DB61-1849-132E-928878489DEA}"/>
                </a:ext>
              </a:extLst>
            </p:cNvPr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>
              <a:extLst>
                <a:ext uri="{FF2B5EF4-FFF2-40B4-BE49-F238E27FC236}">
                  <a16:creationId xmlns:a16="http://schemas.microsoft.com/office/drawing/2014/main" id="{8B51D93C-9327-E365-3CE0-BE62095C9B27}"/>
                </a:ext>
              </a:extLst>
            </p:cNvPr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>
              <a:extLst>
                <a:ext uri="{FF2B5EF4-FFF2-40B4-BE49-F238E27FC236}">
                  <a16:creationId xmlns:a16="http://schemas.microsoft.com/office/drawing/2014/main" id="{35BD4406-1FBC-9A14-D581-D4A6F5610802}"/>
                </a:ext>
              </a:extLst>
            </p:cNvPr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>
              <a:extLst>
                <a:ext uri="{FF2B5EF4-FFF2-40B4-BE49-F238E27FC236}">
                  <a16:creationId xmlns:a16="http://schemas.microsoft.com/office/drawing/2014/main" id="{39ACBD0F-F27A-92C5-E497-A67AEDFB919B}"/>
                </a:ext>
              </a:extLst>
            </p:cNvPr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>
              <a:extLst>
                <a:ext uri="{FF2B5EF4-FFF2-40B4-BE49-F238E27FC236}">
                  <a16:creationId xmlns:a16="http://schemas.microsoft.com/office/drawing/2014/main" id="{FEF43A1E-5332-8AE2-061B-78C8CBA08846}"/>
                </a:ext>
              </a:extLst>
            </p:cNvPr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4" name="Google Shape;574;p24">
              <a:extLst>
                <a:ext uri="{FF2B5EF4-FFF2-40B4-BE49-F238E27FC236}">
                  <a16:creationId xmlns:a16="http://schemas.microsoft.com/office/drawing/2014/main" id="{DA6934AF-F973-1CD3-5869-9E94A871ADF3}"/>
                </a:ext>
              </a:extLst>
            </p:cNvPr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5" name="Google Shape;575;p24">
              <a:extLst>
                <a:ext uri="{FF2B5EF4-FFF2-40B4-BE49-F238E27FC236}">
                  <a16:creationId xmlns:a16="http://schemas.microsoft.com/office/drawing/2014/main" id="{0109B62F-9085-BBC5-DA41-C7B0B4767646}"/>
                </a:ext>
              </a:extLst>
            </p:cNvPr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>
              <a:extLst>
                <a:ext uri="{FF2B5EF4-FFF2-40B4-BE49-F238E27FC236}">
                  <a16:creationId xmlns:a16="http://schemas.microsoft.com/office/drawing/2014/main" id="{A5D86981-3CCA-9A8B-C406-9BFF78DDF2D0}"/>
                </a:ext>
              </a:extLst>
            </p:cNvPr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82" name="Google Shape;582;p24">
            <a:extLst>
              <a:ext uri="{FF2B5EF4-FFF2-40B4-BE49-F238E27FC236}">
                <a16:creationId xmlns:a16="http://schemas.microsoft.com/office/drawing/2014/main" id="{D11BD263-8A10-C732-0655-0DC1B4A9CF04}"/>
              </a:ext>
            </a:extLst>
          </p:cNvPr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3" name="Google Shape;583;p24">
              <a:extLst>
                <a:ext uri="{FF2B5EF4-FFF2-40B4-BE49-F238E27FC236}">
                  <a16:creationId xmlns:a16="http://schemas.microsoft.com/office/drawing/2014/main" id="{5C2A1482-355A-4D04-82BD-F23AA13F9350}"/>
                </a:ext>
              </a:extLst>
            </p:cNvPr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>
              <a:extLst>
                <a:ext uri="{FF2B5EF4-FFF2-40B4-BE49-F238E27FC236}">
                  <a16:creationId xmlns:a16="http://schemas.microsoft.com/office/drawing/2014/main" id="{BC1CCE47-1CF6-4D64-E309-3F369571BDCE}"/>
                </a:ext>
              </a:extLst>
            </p:cNvPr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>
              <a:extLst>
                <a:ext uri="{FF2B5EF4-FFF2-40B4-BE49-F238E27FC236}">
                  <a16:creationId xmlns:a16="http://schemas.microsoft.com/office/drawing/2014/main" id="{D604CAF3-840B-A9A5-5F4C-02A6CF05BACE}"/>
                </a:ext>
              </a:extLst>
            </p:cNvPr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>
              <a:extLst>
                <a:ext uri="{FF2B5EF4-FFF2-40B4-BE49-F238E27FC236}">
                  <a16:creationId xmlns:a16="http://schemas.microsoft.com/office/drawing/2014/main" id="{FB8690C4-65E5-EAE8-1685-E138867FF983}"/>
                </a:ext>
              </a:extLst>
            </p:cNvPr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7" name="Google Shape;587;p24">
              <a:extLst>
                <a:ext uri="{FF2B5EF4-FFF2-40B4-BE49-F238E27FC236}">
                  <a16:creationId xmlns:a16="http://schemas.microsoft.com/office/drawing/2014/main" id="{5B6E6341-6877-027F-73E5-3EFE09A50082}"/>
                </a:ext>
              </a:extLst>
            </p:cNvPr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8" name="Google Shape;588;p24">
              <a:extLst>
                <a:ext uri="{FF2B5EF4-FFF2-40B4-BE49-F238E27FC236}">
                  <a16:creationId xmlns:a16="http://schemas.microsoft.com/office/drawing/2014/main" id="{8B8D07EE-881C-3F8F-4CF7-4E314A33094F}"/>
                </a:ext>
              </a:extLst>
            </p:cNvPr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9" name="Google Shape;589;p24">
              <a:extLst>
                <a:ext uri="{FF2B5EF4-FFF2-40B4-BE49-F238E27FC236}">
                  <a16:creationId xmlns:a16="http://schemas.microsoft.com/office/drawing/2014/main" id="{B42958A0-7322-4E86-B70D-E675B935B598}"/>
                </a:ext>
              </a:extLst>
            </p:cNvPr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0" name="Google Shape;590;p24">
            <a:extLst>
              <a:ext uri="{FF2B5EF4-FFF2-40B4-BE49-F238E27FC236}">
                <a16:creationId xmlns:a16="http://schemas.microsoft.com/office/drawing/2014/main" id="{F1538702-56BA-5653-EE26-20AB37FC4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Mapping Binary Relationships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DC398-2B3F-E039-DC23-00243F2B7B60}"/>
              </a:ext>
            </a:extLst>
          </p:cNvPr>
          <p:cNvSpPr txBox="1"/>
          <p:nvPr/>
        </p:nvSpPr>
        <p:spPr>
          <a:xfrm>
            <a:off x="2351542" y="1412273"/>
            <a:ext cx="6299521" cy="30987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User - Profiles</a:t>
            </a:r>
            <a:r>
              <a:rPr lang="en-US" sz="1600" dirty="0">
                <a:latin typeface="Fira Sans Extra Condensed"/>
              </a:rPr>
              <a:t> (creates): One user can create multiple profiles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User - Devices</a:t>
            </a:r>
            <a:r>
              <a:rPr lang="en-US" sz="1600" dirty="0">
                <a:latin typeface="Fira Sans Extra Condensed"/>
              </a:rPr>
              <a:t> (sign-in): A user can sign in from multiple devices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User - Customer Support</a:t>
            </a:r>
            <a:r>
              <a:rPr lang="en-US" sz="1600" dirty="0">
                <a:latin typeface="Fira Sans Extra Condensed"/>
              </a:rPr>
              <a:t> (files): A user can file multiple support tickets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Profiles - </a:t>
            </a:r>
            <a:r>
              <a:rPr lang="en-US" sz="1600" b="1" dirty="0" err="1">
                <a:latin typeface="Fira Sans Extra Condensed"/>
              </a:rPr>
              <a:t>Watch_History</a:t>
            </a:r>
            <a:r>
              <a:rPr lang="en-US" sz="1600" dirty="0">
                <a:latin typeface="Fira Sans Extra Condensed"/>
              </a:rPr>
              <a:t> (logs): A profile can have multiple watch history entries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Profiles - Reviews</a:t>
            </a:r>
            <a:r>
              <a:rPr lang="en-US" sz="1600" dirty="0">
                <a:latin typeface="Fira Sans Extra Condensed"/>
              </a:rPr>
              <a:t> (rates): A profile can write multiple reviews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Content - Episodes</a:t>
            </a:r>
            <a:r>
              <a:rPr lang="en-US" sz="1600" dirty="0">
                <a:latin typeface="Fira Sans Extra Condensed"/>
              </a:rPr>
              <a:t> (contains): A series can have multiple episodes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Content - </a:t>
            </a:r>
            <a:r>
              <a:rPr lang="en-US" sz="1600" b="1" dirty="0" err="1">
                <a:latin typeface="Fira Sans Extra Condensed"/>
              </a:rPr>
              <a:t>Content_Licensing</a:t>
            </a:r>
            <a:r>
              <a:rPr lang="en-US" sz="1600" dirty="0">
                <a:latin typeface="Fira Sans Extra Condensed"/>
              </a:rPr>
              <a:t> (regulates): A content item can have multiple licenses</a:t>
            </a:r>
          </a:p>
          <a:p>
            <a:pPr marL="285750" indent="-285750">
              <a:buFont typeface="Courier New,monospace"/>
              <a:buChar char="o"/>
            </a:pPr>
            <a:r>
              <a:rPr lang="en-US" sz="1600" b="1" dirty="0">
                <a:latin typeface="Fira Sans Extra Condensed"/>
              </a:rPr>
              <a:t>Content - </a:t>
            </a:r>
            <a:r>
              <a:rPr lang="en-US" sz="1600" b="1" dirty="0" err="1">
                <a:latin typeface="Fira Sans Extra Condensed"/>
              </a:rPr>
              <a:t>Actors_Directors</a:t>
            </a:r>
            <a:r>
              <a:rPr lang="en-US" sz="1600" dirty="0">
                <a:latin typeface="Fira Sans Extra Condensed"/>
              </a:rPr>
              <a:t> (features): A content item can have multiple actors/directors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4923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B49EC16B-16D9-822C-FD23-3183FA266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24">
            <a:extLst>
              <a:ext uri="{FF2B5EF4-FFF2-40B4-BE49-F238E27FC236}">
                <a16:creationId xmlns:a16="http://schemas.microsoft.com/office/drawing/2014/main" id="{A223366D-A072-5BEB-85FD-098320399ED8}"/>
              </a:ext>
            </a:extLst>
          </p:cNvPr>
          <p:cNvGrpSpPr/>
          <p:nvPr/>
        </p:nvGrpSpPr>
        <p:grpSpPr>
          <a:xfrm>
            <a:off x="583555" y="1439775"/>
            <a:ext cx="1659300" cy="2862400"/>
            <a:chOff x="5258425" y="1325475"/>
            <a:chExt cx="1659300" cy="2862400"/>
          </a:xfrm>
        </p:grpSpPr>
        <p:cxnSp>
          <p:nvCxnSpPr>
            <p:cNvPr id="535" name="Google Shape;535;p24">
              <a:extLst>
                <a:ext uri="{FF2B5EF4-FFF2-40B4-BE49-F238E27FC236}">
                  <a16:creationId xmlns:a16="http://schemas.microsoft.com/office/drawing/2014/main" id="{5023AA3F-BFB8-AAFB-4916-5AB9A18A11DB}"/>
                </a:ext>
              </a:extLst>
            </p:cNvPr>
            <p:cNvCxnSpPr>
              <a:stCxn id="536" idx="0"/>
            </p:cNvCxnSpPr>
            <p:nvPr/>
          </p:nvCxnSpPr>
          <p:spPr>
            <a:xfrm>
              <a:off x="608807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6" name="Google Shape;536;p24">
              <a:extLst>
                <a:ext uri="{FF2B5EF4-FFF2-40B4-BE49-F238E27FC236}">
                  <a16:creationId xmlns:a16="http://schemas.microsoft.com/office/drawing/2014/main" id="{DB081F00-B705-911A-C316-370154901DE8}"/>
                </a:ext>
              </a:extLst>
            </p:cNvPr>
            <p:cNvSpPr/>
            <p:nvPr/>
          </p:nvSpPr>
          <p:spPr>
            <a:xfrm rot="10800000">
              <a:off x="5847475" y="1325475"/>
              <a:ext cx="481200" cy="481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4">
              <a:extLst>
                <a:ext uri="{FF2B5EF4-FFF2-40B4-BE49-F238E27FC236}">
                  <a16:creationId xmlns:a16="http://schemas.microsoft.com/office/drawing/2014/main" id="{9D92DD56-03EA-A113-218D-10002864AD40}"/>
                </a:ext>
              </a:extLst>
            </p:cNvPr>
            <p:cNvSpPr/>
            <p:nvPr/>
          </p:nvSpPr>
          <p:spPr>
            <a:xfrm>
              <a:off x="525842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Associative Entities</a:t>
              </a:r>
              <a:endParaRPr lang="en-US" sz="1200" dirty="0"/>
            </a:p>
          </p:txBody>
        </p:sp>
        <p:sp>
          <p:nvSpPr>
            <p:cNvPr id="538" name="Google Shape;538;p24">
              <a:extLst>
                <a:ext uri="{FF2B5EF4-FFF2-40B4-BE49-F238E27FC236}">
                  <a16:creationId xmlns:a16="http://schemas.microsoft.com/office/drawing/2014/main" id="{727C7ACC-8E0C-DEB4-4810-C91581C1DD5A}"/>
                </a:ext>
              </a:extLst>
            </p:cNvPr>
            <p:cNvSpPr txBox="1"/>
            <p:nvPr/>
          </p:nvSpPr>
          <p:spPr>
            <a:xfrm>
              <a:off x="53173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44" name="Google Shape;544;p24">
            <a:extLst>
              <a:ext uri="{FF2B5EF4-FFF2-40B4-BE49-F238E27FC236}">
                <a16:creationId xmlns:a16="http://schemas.microsoft.com/office/drawing/2014/main" id="{1FA50981-8200-4001-E43B-96045DFFE17C}"/>
              </a:ext>
            </a:extLst>
          </p:cNvPr>
          <p:cNvGrpSpPr/>
          <p:nvPr/>
        </p:nvGrpSpPr>
        <p:grpSpPr>
          <a:xfrm>
            <a:off x="2936123" y="1429722"/>
            <a:ext cx="239701" cy="272713"/>
            <a:chOff x="6264525" y="842250"/>
            <a:chExt cx="423500" cy="481825"/>
          </a:xfrm>
        </p:grpSpPr>
        <p:sp>
          <p:nvSpPr>
            <p:cNvPr id="545" name="Google Shape;545;p24">
              <a:extLst>
                <a:ext uri="{FF2B5EF4-FFF2-40B4-BE49-F238E27FC236}">
                  <a16:creationId xmlns:a16="http://schemas.microsoft.com/office/drawing/2014/main" id="{D100FA8C-C374-EA6B-BE31-2E8D32418CF3}"/>
                </a:ext>
              </a:extLst>
            </p:cNvPr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>
              <a:extLst>
                <a:ext uri="{FF2B5EF4-FFF2-40B4-BE49-F238E27FC236}">
                  <a16:creationId xmlns:a16="http://schemas.microsoft.com/office/drawing/2014/main" id="{78FEC4B8-5409-7B89-8F37-5FF2F5E4F47C}"/>
                </a:ext>
              </a:extLst>
            </p:cNvPr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>
              <a:extLst>
                <a:ext uri="{FF2B5EF4-FFF2-40B4-BE49-F238E27FC236}">
                  <a16:creationId xmlns:a16="http://schemas.microsoft.com/office/drawing/2014/main" id="{9C3560B8-F401-4EFD-447A-6E816DAF7AC1}"/>
                </a:ext>
              </a:extLst>
            </p:cNvPr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>
              <a:extLst>
                <a:ext uri="{FF2B5EF4-FFF2-40B4-BE49-F238E27FC236}">
                  <a16:creationId xmlns:a16="http://schemas.microsoft.com/office/drawing/2014/main" id="{7D412BAE-E3A0-CC83-4C99-2034DB495792}"/>
                </a:ext>
              </a:extLst>
            </p:cNvPr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9" name="Google Shape;549;p24">
              <a:extLst>
                <a:ext uri="{FF2B5EF4-FFF2-40B4-BE49-F238E27FC236}">
                  <a16:creationId xmlns:a16="http://schemas.microsoft.com/office/drawing/2014/main" id="{ECB539FE-EB0D-1666-7374-C5A1D9637E8B}"/>
                </a:ext>
              </a:extLst>
            </p:cNvPr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0" name="Google Shape;550;p24">
              <a:extLst>
                <a:ext uri="{FF2B5EF4-FFF2-40B4-BE49-F238E27FC236}">
                  <a16:creationId xmlns:a16="http://schemas.microsoft.com/office/drawing/2014/main" id="{DF7A84FF-0E11-2896-FFCE-331CE34479AD}"/>
                </a:ext>
              </a:extLst>
            </p:cNvPr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>
              <a:extLst>
                <a:ext uri="{FF2B5EF4-FFF2-40B4-BE49-F238E27FC236}">
                  <a16:creationId xmlns:a16="http://schemas.microsoft.com/office/drawing/2014/main" id="{45F84EA1-B6B9-9EA7-C014-748FB85A2107}"/>
                </a:ext>
              </a:extLst>
            </p:cNvPr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7" name="Google Shape;557;p24">
            <a:extLst>
              <a:ext uri="{FF2B5EF4-FFF2-40B4-BE49-F238E27FC236}">
                <a16:creationId xmlns:a16="http://schemas.microsoft.com/office/drawing/2014/main" id="{6D327025-76C4-F477-AC64-293A61CAEFE3}"/>
              </a:ext>
            </a:extLst>
          </p:cNvPr>
          <p:cNvGrpSpPr/>
          <p:nvPr/>
        </p:nvGrpSpPr>
        <p:grpSpPr>
          <a:xfrm>
            <a:off x="4435663" y="1429722"/>
            <a:ext cx="272713" cy="272713"/>
            <a:chOff x="4456875" y="1435075"/>
            <a:chExt cx="481825" cy="481825"/>
          </a:xfrm>
        </p:grpSpPr>
        <p:sp>
          <p:nvSpPr>
            <p:cNvPr id="558" name="Google Shape;558;p24">
              <a:extLst>
                <a:ext uri="{FF2B5EF4-FFF2-40B4-BE49-F238E27FC236}">
                  <a16:creationId xmlns:a16="http://schemas.microsoft.com/office/drawing/2014/main" id="{86C95B08-E887-AF35-DDFA-72805CDD7D1E}"/>
                </a:ext>
              </a:extLst>
            </p:cNvPr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>
              <a:extLst>
                <a:ext uri="{FF2B5EF4-FFF2-40B4-BE49-F238E27FC236}">
                  <a16:creationId xmlns:a16="http://schemas.microsoft.com/office/drawing/2014/main" id="{84BD2C04-FF71-0A5C-8E7D-87A24E109F94}"/>
                </a:ext>
              </a:extLst>
            </p:cNvPr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>
              <a:extLst>
                <a:ext uri="{FF2B5EF4-FFF2-40B4-BE49-F238E27FC236}">
                  <a16:creationId xmlns:a16="http://schemas.microsoft.com/office/drawing/2014/main" id="{E0B4AA67-4BE1-A220-A8DD-DF7F2965B5BC}"/>
                </a:ext>
              </a:extLst>
            </p:cNvPr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>
              <a:extLst>
                <a:ext uri="{FF2B5EF4-FFF2-40B4-BE49-F238E27FC236}">
                  <a16:creationId xmlns:a16="http://schemas.microsoft.com/office/drawing/2014/main" id="{CEC3F9EF-E49D-0C07-4235-5AF66E5466CE}"/>
                </a:ext>
              </a:extLst>
            </p:cNvPr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>
              <a:extLst>
                <a:ext uri="{FF2B5EF4-FFF2-40B4-BE49-F238E27FC236}">
                  <a16:creationId xmlns:a16="http://schemas.microsoft.com/office/drawing/2014/main" id="{1ECC738B-2DFC-C96E-A945-825C60BFBE97}"/>
                </a:ext>
              </a:extLst>
            </p:cNvPr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>
              <a:extLst>
                <a:ext uri="{FF2B5EF4-FFF2-40B4-BE49-F238E27FC236}">
                  <a16:creationId xmlns:a16="http://schemas.microsoft.com/office/drawing/2014/main" id="{B3A34B2A-1BCD-0919-AE26-333495D96122}"/>
                </a:ext>
              </a:extLst>
            </p:cNvPr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>
              <a:extLst>
                <a:ext uri="{FF2B5EF4-FFF2-40B4-BE49-F238E27FC236}">
                  <a16:creationId xmlns:a16="http://schemas.microsoft.com/office/drawing/2014/main" id="{32E4DDAC-CCF2-481C-323D-8CB2C274ECDC}"/>
                </a:ext>
              </a:extLst>
            </p:cNvPr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>
              <a:extLst>
                <a:ext uri="{FF2B5EF4-FFF2-40B4-BE49-F238E27FC236}">
                  <a16:creationId xmlns:a16="http://schemas.microsoft.com/office/drawing/2014/main" id="{0BC12DB2-81F5-83F3-FA6F-D5A00745702B}"/>
                </a:ext>
              </a:extLst>
            </p:cNvPr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>
              <a:extLst>
                <a:ext uri="{FF2B5EF4-FFF2-40B4-BE49-F238E27FC236}">
                  <a16:creationId xmlns:a16="http://schemas.microsoft.com/office/drawing/2014/main" id="{4BF229B1-70E8-F668-DD68-A10E07094669}"/>
                </a:ext>
              </a:extLst>
            </p:cNvPr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>
              <a:extLst>
                <a:ext uri="{FF2B5EF4-FFF2-40B4-BE49-F238E27FC236}">
                  <a16:creationId xmlns:a16="http://schemas.microsoft.com/office/drawing/2014/main" id="{A068E183-17F9-99CC-8602-22A6E25256B9}"/>
                </a:ext>
              </a:extLst>
            </p:cNvPr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>
              <a:extLst>
                <a:ext uri="{FF2B5EF4-FFF2-40B4-BE49-F238E27FC236}">
                  <a16:creationId xmlns:a16="http://schemas.microsoft.com/office/drawing/2014/main" id="{FA28485D-6D7E-6729-51B8-8A8CF9983651}"/>
                </a:ext>
              </a:extLst>
            </p:cNvPr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>
              <a:extLst>
                <a:ext uri="{FF2B5EF4-FFF2-40B4-BE49-F238E27FC236}">
                  <a16:creationId xmlns:a16="http://schemas.microsoft.com/office/drawing/2014/main" id="{563B2E44-9F4D-C85E-9B5D-440960094F68}"/>
                </a:ext>
              </a:extLst>
            </p:cNvPr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>
              <a:extLst>
                <a:ext uri="{FF2B5EF4-FFF2-40B4-BE49-F238E27FC236}">
                  <a16:creationId xmlns:a16="http://schemas.microsoft.com/office/drawing/2014/main" id="{235E6052-A4CA-B81F-2DB5-8988C5E03031}"/>
                </a:ext>
              </a:extLst>
            </p:cNvPr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>
              <a:extLst>
                <a:ext uri="{FF2B5EF4-FFF2-40B4-BE49-F238E27FC236}">
                  <a16:creationId xmlns:a16="http://schemas.microsoft.com/office/drawing/2014/main" id="{88492F1F-9280-FA7A-CC36-7E57ADBDA5AC}"/>
                </a:ext>
              </a:extLst>
            </p:cNvPr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>
              <a:extLst>
                <a:ext uri="{FF2B5EF4-FFF2-40B4-BE49-F238E27FC236}">
                  <a16:creationId xmlns:a16="http://schemas.microsoft.com/office/drawing/2014/main" id="{FE1EBB9B-0931-9395-337E-3673D9F9E4B5}"/>
                </a:ext>
              </a:extLst>
            </p:cNvPr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>
              <a:extLst>
                <a:ext uri="{FF2B5EF4-FFF2-40B4-BE49-F238E27FC236}">
                  <a16:creationId xmlns:a16="http://schemas.microsoft.com/office/drawing/2014/main" id="{A7F2C238-10D3-02B6-29AC-20C2624DF481}"/>
                </a:ext>
              </a:extLst>
            </p:cNvPr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4" name="Google Shape;574;p24">
              <a:extLst>
                <a:ext uri="{FF2B5EF4-FFF2-40B4-BE49-F238E27FC236}">
                  <a16:creationId xmlns:a16="http://schemas.microsoft.com/office/drawing/2014/main" id="{EA8E0507-55D0-8596-FC7E-BF915B020F59}"/>
                </a:ext>
              </a:extLst>
            </p:cNvPr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5" name="Google Shape;575;p24">
              <a:extLst>
                <a:ext uri="{FF2B5EF4-FFF2-40B4-BE49-F238E27FC236}">
                  <a16:creationId xmlns:a16="http://schemas.microsoft.com/office/drawing/2014/main" id="{B2B8EAEE-6004-8ECB-E210-FF90227493BB}"/>
                </a:ext>
              </a:extLst>
            </p:cNvPr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>
              <a:extLst>
                <a:ext uri="{FF2B5EF4-FFF2-40B4-BE49-F238E27FC236}">
                  <a16:creationId xmlns:a16="http://schemas.microsoft.com/office/drawing/2014/main" id="{4511D8B8-5CEF-14BE-6578-B2E77EBC01E8}"/>
                </a:ext>
              </a:extLst>
            </p:cNvPr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7" name="Google Shape;577;p24">
            <a:extLst>
              <a:ext uri="{FF2B5EF4-FFF2-40B4-BE49-F238E27FC236}">
                <a16:creationId xmlns:a16="http://schemas.microsoft.com/office/drawing/2014/main" id="{17F768A5-2836-D345-EAEE-507096E23694}"/>
              </a:ext>
            </a:extLst>
          </p:cNvPr>
          <p:cNvGrpSpPr/>
          <p:nvPr/>
        </p:nvGrpSpPr>
        <p:grpSpPr>
          <a:xfrm>
            <a:off x="1275512" y="1555445"/>
            <a:ext cx="275387" cy="272727"/>
            <a:chOff x="5049725" y="1435050"/>
            <a:chExt cx="486550" cy="481850"/>
          </a:xfrm>
        </p:grpSpPr>
        <p:sp>
          <p:nvSpPr>
            <p:cNvPr id="578" name="Google Shape;578;p24">
              <a:extLst>
                <a:ext uri="{FF2B5EF4-FFF2-40B4-BE49-F238E27FC236}">
                  <a16:creationId xmlns:a16="http://schemas.microsoft.com/office/drawing/2014/main" id="{E3737545-E769-8AA6-3607-E83D6B86B861}"/>
                </a:ext>
              </a:extLst>
            </p:cNvPr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9" name="Google Shape;579;p24">
              <a:extLst>
                <a:ext uri="{FF2B5EF4-FFF2-40B4-BE49-F238E27FC236}">
                  <a16:creationId xmlns:a16="http://schemas.microsoft.com/office/drawing/2014/main" id="{5E8B4E23-3889-0992-7977-70B2936BC500}"/>
                </a:ext>
              </a:extLst>
            </p:cNvPr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0" name="Google Shape;580;p24">
              <a:extLst>
                <a:ext uri="{FF2B5EF4-FFF2-40B4-BE49-F238E27FC236}">
                  <a16:creationId xmlns:a16="http://schemas.microsoft.com/office/drawing/2014/main" id="{A044CCFA-1091-EDD8-C3F2-20D8A1C8C655}"/>
                </a:ext>
              </a:extLst>
            </p:cNvPr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>
              <a:extLst>
                <a:ext uri="{FF2B5EF4-FFF2-40B4-BE49-F238E27FC236}">
                  <a16:creationId xmlns:a16="http://schemas.microsoft.com/office/drawing/2014/main" id="{85CE101C-4845-BF5A-4488-B7995B901CD0}"/>
                </a:ext>
              </a:extLst>
            </p:cNvPr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82" name="Google Shape;582;p24">
            <a:extLst>
              <a:ext uri="{FF2B5EF4-FFF2-40B4-BE49-F238E27FC236}">
                <a16:creationId xmlns:a16="http://schemas.microsoft.com/office/drawing/2014/main" id="{3D36715A-1C80-957E-FB69-1624EFC30D89}"/>
              </a:ext>
            </a:extLst>
          </p:cNvPr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3" name="Google Shape;583;p24">
              <a:extLst>
                <a:ext uri="{FF2B5EF4-FFF2-40B4-BE49-F238E27FC236}">
                  <a16:creationId xmlns:a16="http://schemas.microsoft.com/office/drawing/2014/main" id="{70D7103B-7E61-03CC-A7C5-21907605C9B3}"/>
                </a:ext>
              </a:extLst>
            </p:cNvPr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>
              <a:extLst>
                <a:ext uri="{FF2B5EF4-FFF2-40B4-BE49-F238E27FC236}">
                  <a16:creationId xmlns:a16="http://schemas.microsoft.com/office/drawing/2014/main" id="{035A73DF-8A0D-8BB3-C0E8-C17F0FAD53D4}"/>
                </a:ext>
              </a:extLst>
            </p:cNvPr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>
              <a:extLst>
                <a:ext uri="{FF2B5EF4-FFF2-40B4-BE49-F238E27FC236}">
                  <a16:creationId xmlns:a16="http://schemas.microsoft.com/office/drawing/2014/main" id="{2CB945B1-B48A-7E4F-4F97-0E4BB445F791}"/>
                </a:ext>
              </a:extLst>
            </p:cNvPr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>
              <a:extLst>
                <a:ext uri="{FF2B5EF4-FFF2-40B4-BE49-F238E27FC236}">
                  <a16:creationId xmlns:a16="http://schemas.microsoft.com/office/drawing/2014/main" id="{D23B5B72-DED9-60F1-05AA-A3A5B745B382}"/>
                </a:ext>
              </a:extLst>
            </p:cNvPr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7" name="Google Shape;587;p24">
              <a:extLst>
                <a:ext uri="{FF2B5EF4-FFF2-40B4-BE49-F238E27FC236}">
                  <a16:creationId xmlns:a16="http://schemas.microsoft.com/office/drawing/2014/main" id="{31C24F81-0348-40A4-A936-C2D4AE816D9F}"/>
                </a:ext>
              </a:extLst>
            </p:cNvPr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8" name="Google Shape;588;p24">
              <a:extLst>
                <a:ext uri="{FF2B5EF4-FFF2-40B4-BE49-F238E27FC236}">
                  <a16:creationId xmlns:a16="http://schemas.microsoft.com/office/drawing/2014/main" id="{555BFC69-969C-F334-1204-396727EE13B0}"/>
                </a:ext>
              </a:extLst>
            </p:cNvPr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9" name="Google Shape;589;p24">
              <a:extLst>
                <a:ext uri="{FF2B5EF4-FFF2-40B4-BE49-F238E27FC236}">
                  <a16:creationId xmlns:a16="http://schemas.microsoft.com/office/drawing/2014/main" id="{8780509A-DB12-0707-32A9-ED0C04762822}"/>
                </a:ext>
              </a:extLst>
            </p:cNvPr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0" name="Google Shape;590;p24">
            <a:extLst>
              <a:ext uri="{FF2B5EF4-FFF2-40B4-BE49-F238E27FC236}">
                <a16:creationId xmlns:a16="http://schemas.microsoft.com/office/drawing/2014/main" id="{3C819DB8-2D3A-5A74-40FA-59520DA17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Mapping Associative Entities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5ADB49-4A2E-1D1D-494A-1DC89CC3B8C7}"/>
              </a:ext>
            </a:extLst>
          </p:cNvPr>
          <p:cNvSpPr txBox="1"/>
          <p:nvPr/>
        </p:nvSpPr>
        <p:spPr>
          <a:xfrm>
            <a:off x="2472831" y="1998710"/>
            <a:ext cx="6087970" cy="177069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b="1"/>
              <a:t>Watchlist</a:t>
            </a:r>
            <a:r>
              <a:rPr lang="en-US" dirty="0"/>
              <a:t> → Connects </a:t>
            </a:r>
            <a:r>
              <a:rPr lang="en-US" b="1" dirty="0"/>
              <a:t>Profiles ↔ Content</a:t>
            </a:r>
            <a:r>
              <a:rPr lang="en-US" dirty="0"/>
              <a:t> (Profiles add content to watchlist).</a:t>
            </a:r>
            <a:endParaRPr lang="en-US" dirty="0">
              <a:cs typeface="Arial"/>
            </a:endParaRPr>
          </a:p>
          <a:p>
            <a:pPr marL="285750" indent="-285750">
              <a:buFont typeface="Courier New"/>
              <a:buChar char="o"/>
            </a:pPr>
            <a:r>
              <a:rPr lang="en-US" b="1" dirty="0" err="1"/>
              <a:t>AD_Views</a:t>
            </a:r>
            <a:r>
              <a:rPr lang="en-US" dirty="0"/>
              <a:t> → Connects </a:t>
            </a:r>
            <a:r>
              <a:rPr lang="en-US" b="1" dirty="0"/>
              <a:t>Users ↔ Advertisement</a:t>
            </a:r>
            <a:r>
              <a:rPr lang="en-US" dirty="0"/>
              <a:t> (Users view ads).</a:t>
            </a:r>
          </a:p>
          <a:p>
            <a:pPr marL="285750" indent="-285750">
              <a:buFont typeface="Courier New"/>
              <a:buChar char="o"/>
            </a:pPr>
            <a:r>
              <a:rPr lang="en-US" b="1" dirty="0"/>
              <a:t>Recommendations</a:t>
            </a:r>
            <a:r>
              <a:rPr lang="en-US" dirty="0"/>
              <a:t> → Connects </a:t>
            </a:r>
            <a:r>
              <a:rPr lang="en-US" b="1" dirty="0"/>
              <a:t>Profiles ↔ Content</a:t>
            </a:r>
            <a:r>
              <a:rPr lang="en-US" dirty="0"/>
              <a:t> (Personalized content suggestions).</a:t>
            </a:r>
          </a:p>
          <a:p>
            <a:pPr marL="285750" indent="-285750">
              <a:buFont typeface="Courier New"/>
              <a:buChar char="o"/>
            </a:pPr>
            <a:r>
              <a:rPr lang="en-US" b="1" dirty="0" err="1"/>
              <a:t>Actors_Directors</a:t>
            </a:r>
            <a:r>
              <a:rPr lang="en-US" dirty="0"/>
              <a:t> → Connects </a:t>
            </a:r>
            <a:r>
              <a:rPr lang="en-US" b="1" dirty="0"/>
              <a:t>People ↔ Content</a:t>
            </a:r>
            <a:r>
              <a:rPr lang="en-US" dirty="0"/>
              <a:t> (Actors/Directors in content)</a:t>
            </a:r>
          </a:p>
        </p:txBody>
      </p:sp>
    </p:spTree>
    <p:extLst>
      <p:ext uri="{BB962C8B-B14F-4D97-AF65-F5344CB8AC3E}">
        <p14:creationId xmlns:p14="http://schemas.microsoft.com/office/powerpoint/2010/main" val="2401228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6FC4B414-DAAE-258C-C224-E7083BF1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24">
            <a:extLst>
              <a:ext uri="{FF2B5EF4-FFF2-40B4-BE49-F238E27FC236}">
                <a16:creationId xmlns:a16="http://schemas.microsoft.com/office/drawing/2014/main" id="{7179DA3C-F20B-F3E0-35FF-1ED0FC786677}"/>
              </a:ext>
            </a:extLst>
          </p:cNvPr>
          <p:cNvGrpSpPr/>
          <p:nvPr/>
        </p:nvGrpSpPr>
        <p:grpSpPr>
          <a:xfrm>
            <a:off x="710860" y="1342620"/>
            <a:ext cx="1659300" cy="2862400"/>
            <a:chOff x="6774475" y="1325475"/>
            <a:chExt cx="1659300" cy="2862400"/>
          </a:xfrm>
        </p:grpSpPr>
        <p:cxnSp>
          <p:nvCxnSpPr>
            <p:cNvPr id="540" name="Google Shape;540;p24">
              <a:extLst>
                <a:ext uri="{FF2B5EF4-FFF2-40B4-BE49-F238E27FC236}">
                  <a16:creationId xmlns:a16="http://schemas.microsoft.com/office/drawing/2014/main" id="{58A7C682-731F-3A67-D982-142771ACDE70}"/>
                </a:ext>
              </a:extLst>
            </p:cNvPr>
            <p:cNvCxnSpPr>
              <a:stCxn id="541" idx="0"/>
            </p:cNvCxnSpPr>
            <p:nvPr/>
          </p:nvCxnSpPr>
          <p:spPr>
            <a:xfrm>
              <a:off x="76041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41" name="Google Shape;541;p24">
              <a:extLst>
                <a:ext uri="{FF2B5EF4-FFF2-40B4-BE49-F238E27FC236}">
                  <a16:creationId xmlns:a16="http://schemas.microsoft.com/office/drawing/2014/main" id="{F2D64ECF-A483-FEE0-E939-4340E2BC3496}"/>
                </a:ext>
              </a:extLst>
            </p:cNvPr>
            <p:cNvSpPr/>
            <p:nvPr/>
          </p:nvSpPr>
          <p:spPr>
            <a:xfrm rot="10800000">
              <a:off x="7363525" y="1325475"/>
              <a:ext cx="481200" cy="481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4">
              <a:extLst>
                <a:ext uri="{FF2B5EF4-FFF2-40B4-BE49-F238E27FC236}">
                  <a16:creationId xmlns:a16="http://schemas.microsoft.com/office/drawing/2014/main" id="{018DC614-ADEE-E99D-8324-58D99A5B5525}"/>
                </a:ext>
              </a:extLst>
            </p:cNvPr>
            <p:cNvSpPr/>
            <p:nvPr/>
          </p:nvSpPr>
          <p:spPr>
            <a:xfrm>
              <a:off x="67744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900" dirty="0">
                  <a:solidFill>
                    <a:srgbClr val="FFFFFF"/>
                  </a:solidFill>
                  <a:latin typeface="Fira Sans Extra Condensed"/>
                  <a:sym typeface="Fira Sans Extra Condensed Medium"/>
                </a:rPr>
                <a:t>Supertype/Subtype Relationships</a:t>
              </a:r>
              <a:endParaRPr lang="en-US" sz="900">
                <a:latin typeface="Fira Sans Extra Condensed"/>
              </a:endParaRPr>
            </a:p>
          </p:txBody>
        </p:sp>
        <p:sp>
          <p:nvSpPr>
            <p:cNvPr id="543" name="Google Shape;543;p24">
              <a:extLst>
                <a:ext uri="{FF2B5EF4-FFF2-40B4-BE49-F238E27FC236}">
                  <a16:creationId xmlns:a16="http://schemas.microsoft.com/office/drawing/2014/main" id="{2C18EB2C-8D44-FEC4-A6CC-042A74A530DA}"/>
                </a:ext>
              </a:extLst>
            </p:cNvPr>
            <p:cNvSpPr txBox="1"/>
            <p:nvPr/>
          </p:nvSpPr>
          <p:spPr>
            <a:xfrm>
              <a:off x="68334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dirty="0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82" name="Google Shape;582;p24">
            <a:extLst>
              <a:ext uri="{FF2B5EF4-FFF2-40B4-BE49-F238E27FC236}">
                <a16:creationId xmlns:a16="http://schemas.microsoft.com/office/drawing/2014/main" id="{324D6761-5A7B-2B66-C9D9-6194D69F8AD5}"/>
              </a:ext>
            </a:extLst>
          </p:cNvPr>
          <p:cNvGrpSpPr/>
          <p:nvPr/>
        </p:nvGrpSpPr>
        <p:grpSpPr>
          <a:xfrm>
            <a:off x="1406432" y="1448285"/>
            <a:ext cx="268157" cy="247017"/>
            <a:chOff x="2682350" y="2643425"/>
            <a:chExt cx="473775" cy="436425"/>
          </a:xfrm>
        </p:grpSpPr>
        <p:sp>
          <p:nvSpPr>
            <p:cNvPr id="583" name="Google Shape;583;p24">
              <a:extLst>
                <a:ext uri="{FF2B5EF4-FFF2-40B4-BE49-F238E27FC236}">
                  <a16:creationId xmlns:a16="http://schemas.microsoft.com/office/drawing/2014/main" id="{F4700825-E8DB-BD76-0BE8-89E18919C72D}"/>
                </a:ext>
              </a:extLst>
            </p:cNvPr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>
              <a:extLst>
                <a:ext uri="{FF2B5EF4-FFF2-40B4-BE49-F238E27FC236}">
                  <a16:creationId xmlns:a16="http://schemas.microsoft.com/office/drawing/2014/main" id="{38056CA2-6084-054F-9F73-BB48139303AB}"/>
                </a:ext>
              </a:extLst>
            </p:cNvPr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>
              <a:extLst>
                <a:ext uri="{FF2B5EF4-FFF2-40B4-BE49-F238E27FC236}">
                  <a16:creationId xmlns:a16="http://schemas.microsoft.com/office/drawing/2014/main" id="{CFBAE383-FBE7-00B6-3707-2ED4A84BA56E}"/>
                </a:ext>
              </a:extLst>
            </p:cNvPr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>
              <a:extLst>
                <a:ext uri="{FF2B5EF4-FFF2-40B4-BE49-F238E27FC236}">
                  <a16:creationId xmlns:a16="http://schemas.microsoft.com/office/drawing/2014/main" id="{32E32237-616E-E093-58C3-08294C7BC9E4}"/>
                </a:ext>
              </a:extLst>
            </p:cNvPr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7" name="Google Shape;587;p24">
              <a:extLst>
                <a:ext uri="{FF2B5EF4-FFF2-40B4-BE49-F238E27FC236}">
                  <a16:creationId xmlns:a16="http://schemas.microsoft.com/office/drawing/2014/main" id="{AEC38316-FA98-1C4D-FF7F-2AC4078D9F2E}"/>
                </a:ext>
              </a:extLst>
            </p:cNvPr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8" name="Google Shape;588;p24">
              <a:extLst>
                <a:ext uri="{FF2B5EF4-FFF2-40B4-BE49-F238E27FC236}">
                  <a16:creationId xmlns:a16="http://schemas.microsoft.com/office/drawing/2014/main" id="{61E4C700-823F-F029-2175-CA43E955A890}"/>
                </a:ext>
              </a:extLst>
            </p:cNvPr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9" name="Google Shape;589;p24">
              <a:extLst>
                <a:ext uri="{FF2B5EF4-FFF2-40B4-BE49-F238E27FC236}">
                  <a16:creationId xmlns:a16="http://schemas.microsoft.com/office/drawing/2014/main" id="{C4CA8306-2C3C-4D62-49E1-FA00F0F57BA6}"/>
                </a:ext>
              </a:extLst>
            </p:cNvPr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0" name="Google Shape;590;p24">
            <a:extLst>
              <a:ext uri="{FF2B5EF4-FFF2-40B4-BE49-F238E27FC236}">
                <a16:creationId xmlns:a16="http://schemas.microsoft.com/office/drawing/2014/main" id="{F60ECF01-8D11-AB04-EBB0-EFE1D182E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Mapping Supertype/Subtype Relationships</a:t>
            </a:r>
          </a:p>
        </p:txBody>
      </p:sp>
      <p:pic>
        <p:nvPicPr>
          <p:cNvPr id="2" name="Picture 1" descr="A screenshot of a diagram&#10;&#10;AI-generated content may be incorrect.">
            <a:extLst>
              <a:ext uri="{FF2B5EF4-FFF2-40B4-BE49-F238E27FC236}">
                <a16:creationId xmlns:a16="http://schemas.microsoft.com/office/drawing/2014/main" id="{DC8D0697-D342-3DCB-B094-61D79BFC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165" y="1176064"/>
            <a:ext cx="6223635" cy="3340012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08942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5"/>
          <p:cNvSpPr txBox="1">
            <a:spLocks noGrp="1"/>
          </p:cNvSpPr>
          <p:nvPr>
            <p:ph type="title"/>
          </p:nvPr>
        </p:nvSpPr>
        <p:spPr>
          <a:xfrm>
            <a:off x="710275" y="340005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Removing Transitive Dependencies</a:t>
            </a:r>
            <a:endParaRPr lang="en-US" dirty="0"/>
          </a:p>
        </p:txBody>
      </p:sp>
      <p:grpSp>
        <p:nvGrpSpPr>
          <p:cNvPr id="634" name="Google Shape;634;p25"/>
          <p:cNvGrpSpPr/>
          <p:nvPr/>
        </p:nvGrpSpPr>
        <p:grpSpPr>
          <a:xfrm>
            <a:off x="5767059" y="1781457"/>
            <a:ext cx="293908" cy="358285"/>
            <a:chOff x="3907325" y="2620775"/>
            <a:chExt cx="395250" cy="481825"/>
          </a:xfrm>
        </p:grpSpPr>
        <p:sp>
          <p:nvSpPr>
            <p:cNvPr id="635" name="Google Shape;635;p25"/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2" name="Picture 1" descr="A black arrow pointing to a black arrow&#10;&#10;AI-generated content may be incorrect.">
            <a:extLst>
              <a:ext uri="{FF2B5EF4-FFF2-40B4-BE49-F238E27FC236}">
                <a16:creationId xmlns:a16="http://schemas.microsoft.com/office/drawing/2014/main" id="{9734625C-0CE8-C227-45E7-2AC8A0713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301" y="1009785"/>
            <a:ext cx="6802570" cy="1900429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66E98E-52A9-E881-F604-34DD6CF3B836}"/>
              </a:ext>
            </a:extLst>
          </p:cNvPr>
          <p:cNvSpPr txBox="1"/>
          <p:nvPr/>
        </p:nvSpPr>
        <p:spPr>
          <a:xfrm>
            <a:off x="933980" y="3043850"/>
            <a:ext cx="7284045" cy="2009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latin typeface="Fira Sans Extra Condensed"/>
            </a:endParaRPr>
          </a:p>
          <a:p>
            <a:pPr marL="171450" indent="-171450">
              <a:buFont typeface="Courier New"/>
              <a:buChar char="o"/>
            </a:pPr>
            <a:r>
              <a:rPr lang="en-US" dirty="0">
                <a:latin typeface="Fira Sans Extra Condensed"/>
              </a:rPr>
              <a:t>The attribute </a:t>
            </a:r>
            <a:r>
              <a:rPr lang="en-US" err="1">
                <a:latin typeface="Fira Sans Extra Condensed"/>
              </a:rPr>
              <a:t>AD_Duration</a:t>
            </a:r>
            <a:r>
              <a:rPr lang="en-US" dirty="0">
                <a:latin typeface="Fira Sans Extra Condensed"/>
              </a:rPr>
              <a:t> in Basic is already part of the Advertisement entity</a:t>
            </a:r>
          </a:p>
          <a:p>
            <a:pPr marL="171450" indent="-171450">
              <a:buFont typeface="Courier New"/>
              <a:buChar char="o"/>
            </a:pPr>
            <a:r>
              <a:rPr lang="en-US" dirty="0">
                <a:latin typeface="Fira Sans Extra Condensed"/>
              </a:rPr>
              <a:t>Since </a:t>
            </a:r>
            <a:r>
              <a:rPr lang="en-US" err="1">
                <a:latin typeface="Fira Sans Extra Condensed"/>
              </a:rPr>
              <a:t>AD_Duration</a:t>
            </a:r>
            <a:r>
              <a:rPr lang="en-US" dirty="0">
                <a:latin typeface="Fira Sans Extra Condensed"/>
              </a:rPr>
              <a:t> is functionally dependent on AD_ID, and AD_ID is a foreign key in Basic, this creates a transitive dependency</a:t>
            </a:r>
          </a:p>
          <a:p>
            <a:pPr marL="171450" indent="-171450">
              <a:buFont typeface="Courier New"/>
              <a:buChar char="o"/>
            </a:pPr>
            <a:r>
              <a:rPr lang="en-US" dirty="0">
                <a:latin typeface="Fira Sans Extra Condensed"/>
              </a:rPr>
              <a:t>To ensure 3NF, we should not store </a:t>
            </a:r>
            <a:r>
              <a:rPr lang="en-US" err="1">
                <a:latin typeface="Fira Sans Extra Condensed"/>
              </a:rPr>
              <a:t>AD_Duration</a:t>
            </a:r>
            <a:r>
              <a:rPr lang="en-US" dirty="0">
                <a:latin typeface="Fira Sans Extra Condensed"/>
              </a:rPr>
              <a:t> in the Basic entity because it already belongs in the Advertisement table. Remove </a:t>
            </a:r>
            <a:r>
              <a:rPr lang="en-US" err="1">
                <a:latin typeface="Fira Sans Extra Condensed"/>
              </a:rPr>
              <a:t>AD_Duration</a:t>
            </a:r>
            <a:r>
              <a:rPr lang="en-US" dirty="0">
                <a:latin typeface="Fira Sans Extra Condensed"/>
              </a:rPr>
              <a:t> from Basic. Join with Advertisement when needed, using AD_ID</a:t>
            </a:r>
          </a:p>
          <a:p>
            <a:pPr algn="l"/>
            <a:endParaRPr lang="en-US" dirty="0">
              <a:latin typeface="Fira Sans Extra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0870B700-392B-9B5E-C991-CDFBF72B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5">
            <a:extLst>
              <a:ext uri="{FF2B5EF4-FFF2-40B4-BE49-F238E27FC236}">
                <a16:creationId xmlns:a16="http://schemas.microsoft.com/office/drawing/2014/main" id="{BCC3BDFE-8098-28CB-C2E9-2BC2D610F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192521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Removing Transitive Dependencies</a:t>
            </a:r>
            <a:endParaRPr lang="en-US" dirty="0"/>
          </a:p>
        </p:txBody>
      </p:sp>
      <p:grpSp>
        <p:nvGrpSpPr>
          <p:cNvPr id="634" name="Google Shape;634;p25">
            <a:extLst>
              <a:ext uri="{FF2B5EF4-FFF2-40B4-BE49-F238E27FC236}">
                <a16:creationId xmlns:a16="http://schemas.microsoft.com/office/drawing/2014/main" id="{B5282DA2-31F3-20AF-AABF-0466735608CF}"/>
              </a:ext>
            </a:extLst>
          </p:cNvPr>
          <p:cNvGrpSpPr/>
          <p:nvPr/>
        </p:nvGrpSpPr>
        <p:grpSpPr>
          <a:xfrm>
            <a:off x="5767059" y="1781457"/>
            <a:ext cx="293908" cy="358285"/>
            <a:chOff x="3907325" y="2620775"/>
            <a:chExt cx="395250" cy="481825"/>
          </a:xfrm>
        </p:grpSpPr>
        <p:sp>
          <p:nvSpPr>
            <p:cNvPr id="635" name="Google Shape;635;p25">
              <a:extLst>
                <a:ext uri="{FF2B5EF4-FFF2-40B4-BE49-F238E27FC236}">
                  <a16:creationId xmlns:a16="http://schemas.microsoft.com/office/drawing/2014/main" id="{4801B9F7-1364-4788-563D-CB569F38E726}"/>
                </a:ext>
              </a:extLst>
            </p:cNvPr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6" name="Google Shape;636;p25">
              <a:extLst>
                <a:ext uri="{FF2B5EF4-FFF2-40B4-BE49-F238E27FC236}">
                  <a16:creationId xmlns:a16="http://schemas.microsoft.com/office/drawing/2014/main" id="{7D2BEFDE-8EFC-3F32-6AB2-44A2CAA8E07E}"/>
                </a:ext>
              </a:extLst>
            </p:cNvPr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7" name="Google Shape;637;p25">
              <a:extLst>
                <a:ext uri="{FF2B5EF4-FFF2-40B4-BE49-F238E27FC236}">
                  <a16:creationId xmlns:a16="http://schemas.microsoft.com/office/drawing/2014/main" id="{6AFF5DAB-2052-6FB8-6CEF-133CA37C11B7}"/>
                </a:ext>
              </a:extLst>
            </p:cNvPr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8" name="Google Shape;638;p25">
              <a:extLst>
                <a:ext uri="{FF2B5EF4-FFF2-40B4-BE49-F238E27FC236}">
                  <a16:creationId xmlns:a16="http://schemas.microsoft.com/office/drawing/2014/main" id="{0843D05B-AD96-895F-701B-32A85B50D787}"/>
                </a:ext>
              </a:extLst>
            </p:cNvPr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2683B5-E5DF-15BE-89D8-2329081F7618}"/>
              </a:ext>
            </a:extLst>
          </p:cNvPr>
          <p:cNvSpPr txBox="1"/>
          <p:nvPr/>
        </p:nvSpPr>
        <p:spPr>
          <a:xfrm>
            <a:off x="664760" y="3103827"/>
            <a:ext cx="7807796" cy="177069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 dirty="0">
                <a:latin typeface="Fira Sans Extra Condensed"/>
              </a:rPr>
              <a:t>The original </a:t>
            </a:r>
            <a:r>
              <a:rPr lang="en-US" dirty="0" err="1">
                <a:latin typeface="Fira Sans Extra Condensed"/>
              </a:rPr>
              <a:t>Actors_Directors</a:t>
            </a:r>
            <a:r>
              <a:rPr lang="en-US" dirty="0">
                <a:latin typeface="Fira Sans Extra Condensed"/>
              </a:rPr>
              <a:t> table has </a:t>
            </a:r>
            <a:r>
              <a:rPr lang="en-US" b="1" dirty="0" err="1">
                <a:latin typeface="Fira Sans Extra Condensed"/>
              </a:rPr>
              <a:t>person_id</a:t>
            </a:r>
            <a:r>
              <a:rPr lang="en-US" dirty="0">
                <a:latin typeface="Fira Sans Extra Condensed"/>
              </a:rPr>
              <a:t> as the primary key and includes </a:t>
            </a:r>
            <a:r>
              <a:rPr lang="en-US" b="1" dirty="0" err="1">
                <a:latin typeface="Fira Sans Extra Condensed"/>
              </a:rPr>
              <a:t>content_id</a:t>
            </a:r>
            <a:r>
              <a:rPr lang="en-US" b="1" dirty="0">
                <a:latin typeface="Fira Sans Extra Condensed"/>
              </a:rPr>
              <a:t>, name, role, and biography</a:t>
            </a:r>
            <a:endParaRPr lang="en-US" dirty="0">
              <a:latin typeface="Fira Sans Extra Condensed"/>
            </a:endParaRPr>
          </a:p>
          <a:p>
            <a:pPr marL="171450" indent="-171450">
              <a:buChar char="•"/>
            </a:pPr>
            <a:r>
              <a:rPr lang="en-US" dirty="0">
                <a:latin typeface="Fira Sans Extra Condensed"/>
              </a:rPr>
              <a:t>name and biography depend only on </a:t>
            </a:r>
            <a:r>
              <a:rPr lang="en-US" dirty="0" err="1">
                <a:latin typeface="Fira Sans Extra Condensed"/>
              </a:rPr>
              <a:t>person_id</a:t>
            </a:r>
            <a:r>
              <a:rPr lang="en-US" dirty="0">
                <a:latin typeface="Fira Sans Extra Condensed"/>
              </a:rPr>
              <a:t>, not </a:t>
            </a:r>
            <a:r>
              <a:rPr lang="en-US" dirty="0" err="1">
                <a:latin typeface="Fira Sans Extra Condensed"/>
              </a:rPr>
              <a:t>content_id</a:t>
            </a:r>
            <a:r>
              <a:rPr lang="en-US" dirty="0">
                <a:latin typeface="Fira Sans Extra Condensed"/>
              </a:rPr>
              <a:t>, creating a transitive dependency and violating </a:t>
            </a:r>
            <a:r>
              <a:rPr lang="en-US" b="1" dirty="0">
                <a:latin typeface="Fira Sans Extra Condensed"/>
              </a:rPr>
              <a:t>3NF</a:t>
            </a:r>
            <a:endParaRPr lang="en-US" dirty="0">
              <a:latin typeface="Fira Sans Extra Condensed"/>
            </a:endParaRPr>
          </a:p>
          <a:p>
            <a:pPr>
              <a:buChar char="•"/>
            </a:pPr>
            <a:r>
              <a:rPr lang="en-US" dirty="0">
                <a:latin typeface="Fira Sans Extra Condensed"/>
              </a:rPr>
              <a:t>   To ensure </a:t>
            </a:r>
            <a:r>
              <a:rPr lang="en-US" b="1" dirty="0">
                <a:latin typeface="Fira Sans Extra Condensed"/>
              </a:rPr>
              <a:t>3NF, </a:t>
            </a:r>
            <a:r>
              <a:rPr lang="en-US" dirty="0">
                <a:latin typeface="Fira Sans Extra Condensed"/>
              </a:rPr>
              <a:t>Splitting into two tables: </a:t>
            </a:r>
          </a:p>
          <a:p>
            <a:pPr marL="800100" lvl="1" indent="-342900">
              <a:buAutoNum type="arabicPeriod"/>
            </a:pPr>
            <a:r>
              <a:rPr lang="en-US" b="1" dirty="0" err="1">
                <a:latin typeface="Fira Sans Extra Condensed"/>
              </a:rPr>
              <a:t>Actors_Directors</a:t>
            </a:r>
            <a:r>
              <a:rPr lang="en-US" b="1" dirty="0">
                <a:latin typeface="Fira Sans Extra Condensed"/>
              </a:rPr>
              <a:t> (</a:t>
            </a:r>
            <a:r>
              <a:rPr lang="en-US" b="1" dirty="0" err="1">
                <a:latin typeface="Fira Sans Extra Condensed"/>
              </a:rPr>
              <a:t>person_id</a:t>
            </a:r>
            <a:r>
              <a:rPr lang="en-US" b="1" dirty="0">
                <a:latin typeface="Fira Sans Extra Condensed"/>
              </a:rPr>
              <a:t>, </a:t>
            </a:r>
            <a:r>
              <a:rPr lang="en-US" b="1" dirty="0" err="1">
                <a:latin typeface="Fira Sans Extra Condensed"/>
              </a:rPr>
              <a:t>content_id</a:t>
            </a:r>
            <a:r>
              <a:rPr lang="en-US" b="1" dirty="0">
                <a:latin typeface="Fira Sans Extra Condensed"/>
              </a:rPr>
              <a:t>, role)</a:t>
            </a:r>
            <a:r>
              <a:rPr lang="en-US" dirty="0">
                <a:latin typeface="Fira Sans Extra Condensed"/>
              </a:rPr>
              <a:t> → Links people to content</a:t>
            </a:r>
          </a:p>
          <a:p>
            <a:pPr marL="800100" lvl="1" indent="-342900">
              <a:buAutoNum type="arabicPeriod"/>
            </a:pPr>
            <a:r>
              <a:rPr lang="en-US" b="1" dirty="0">
                <a:latin typeface="Fira Sans Extra Condensed"/>
              </a:rPr>
              <a:t>Person (</a:t>
            </a:r>
            <a:r>
              <a:rPr lang="en-US" b="1" dirty="0" err="1">
                <a:latin typeface="Fira Sans Extra Condensed"/>
              </a:rPr>
              <a:t>person_id</a:t>
            </a:r>
            <a:r>
              <a:rPr lang="en-US" b="1" dirty="0">
                <a:latin typeface="Fira Sans Extra Condensed"/>
              </a:rPr>
              <a:t>, name, biography)</a:t>
            </a:r>
            <a:r>
              <a:rPr lang="en-US" dirty="0">
                <a:latin typeface="Fira Sans Extra Condensed"/>
              </a:rPr>
              <a:t> → Stores personal details separately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D8EAC-6C6D-DEB2-47BD-33FF457F5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50" y="795320"/>
            <a:ext cx="7515225" cy="2156556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47154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71837D-B2C1-E166-84A0-B0798A892321}"/>
              </a:ext>
            </a:extLst>
          </p:cNvPr>
          <p:cNvSpPr txBox="1"/>
          <p:nvPr/>
        </p:nvSpPr>
        <p:spPr>
          <a:xfrm>
            <a:off x="436746" y="354"/>
            <a:ext cx="82696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Fira Sans Extra Condensed"/>
              </a:rPr>
              <a:t>Relational Schema</a:t>
            </a:r>
          </a:p>
        </p:txBody>
      </p:sp>
      <p:pic>
        <p:nvPicPr>
          <p:cNvPr id="2" name="Picture 1" descr="A computer screen shot of a website&#10;&#10;AI-generated content may be incorrect.">
            <a:extLst>
              <a:ext uri="{FF2B5EF4-FFF2-40B4-BE49-F238E27FC236}">
                <a16:creationId xmlns:a16="http://schemas.microsoft.com/office/drawing/2014/main" id="{F10445C8-C228-3ED7-7618-BA8BF6626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95" y="910631"/>
            <a:ext cx="8924048" cy="36412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7"/>
          <p:cNvSpPr txBox="1">
            <a:spLocks noGrp="1"/>
          </p:cNvSpPr>
          <p:nvPr>
            <p:ph type="title"/>
          </p:nvPr>
        </p:nvSpPr>
        <p:spPr>
          <a:xfrm>
            <a:off x="710275" y="79450"/>
            <a:ext cx="7710106" cy="3293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 dirty="0"/>
              <a:t>Final ER Model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73F3E83D-625B-67F4-C52A-3B7BA922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1" y="559441"/>
            <a:ext cx="8095044" cy="44224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/>
          <p:cNvSpPr txBox="1">
            <a:spLocks noGrp="1"/>
          </p:cNvSpPr>
          <p:nvPr>
            <p:ph type="title"/>
          </p:nvPr>
        </p:nvSpPr>
        <p:spPr>
          <a:xfrm>
            <a:off x="710275" y="423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Data – User Table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DAF032-249C-71F1-4358-C2E9EEA7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580" y="481004"/>
            <a:ext cx="6539015" cy="2968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8630E6-3561-CCE7-DDC1-10D19012447E}"/>
              </a:ext>
            </a:extLst>
          </p:cNvPr>
          <p:cNvSpPr txBox="1"/>
          <p:nvPr/>
        </p:nvSpPr>
        <p:spPr>
          <a:xfrm>
            <a:off x="2545544" y="3495793"/>
            <a:ext cx="4474586" cy="16004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 sz="1100" dirty="0"/>
              <a:t>Table Name - User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err="1"/>
              <a:t>user_id</a:t>
            </a:r>
            <a:r>
              <a:rPr lang="en-US" sz="1100" dirty="0"/>
              <a:t> – Unique user identifier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dirty="0"/>
              <a:t>name – User’s full name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dirty="0"/>
              <a:t>email – Unique email address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dirty="0"/>
              <a:t>password – Encrypted login password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err="1"/>
              <a:t>plan_id</a:t>
            </a:r>
            <a:r>
              <a:rPr lang="en-US" sz="1100" dirty="0"/>
              <a:t> – Subscription plan reference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dirty="0"/>
              <a:t>country – User’s country of residence</a:t>
            </a:r>
            <a:endParaRPr lang="en-US" sz="1100">
              <a:cs typeface="Arial"/>
            </a:endParaRPr>
          </a:p>
          <a:p>
            <a:pPr marL="171450" indent="-171450">
              <a:buChar char="•"/>
            </a:pPr>
            <a:r>
              <a:rPr lang="en-US" sz="1100" err="1"/>
              <a:t>date_of_birth</a:t>
            </a:r>
            <a:r>
              <a:rPr lang="en-US" sz="1100" dirty="0"/>
              <a:t> – User’s birth date</a:t>
            </a:r>
            <a:endParaRPr lang="en-US" sz="1100" dirty="0"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57A996EC-CC4E-98F6-17AD-969C2B03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37A23C13-6B4E-8439-9149-70802DB7C4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423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Data – </a:t>
            </a:r>
            <a:r>
              <a:rPr lang="en" sz="2400" b="1">
                <a:latin typeface="Fira Sans Extra Condensed"/>
                <a:cs typeface="Arial"/>
              </a:rPr>
              <a:t>Profile Table</a:t>
            </a:r>
            <a:endParaRPr lang="en" sz="2400" b="1" dirty="0">
              <a:latin typeface="Fira Sans Extra Condensed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45BD6-FD19-0790-32EE-A3A389D2FCFB}"/>
              </a:ext>
            </a:extLst>
          </p:cNvPr>
          <p:cNvSpPr txBox="1"/>
          <p:nvPr/>
        </p:nvSpPr>
        <p:spPr>
          <a:xfrm>
            <a:off x="5111525" y="1954483"/>
            <a:ext cx="3703888" cy="122586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1100" dirty="0" err="1">
                <a:ea typeface="+mn-lt"/>
                <a:cs typeface="+mn-lt"/>
              </a:rPr>
              <a:t>profile_id</a:t>
            </a:r>
            <a:r>
              <a:rPr lang="en-US" sz="1100" dirty="0">
                <a:ea typeface="+mn-lt"/>
                <a:cs typeface="+mn-lt"/>
              </a:rPr>
              <a:t> – Unique profile identifier</a:t>
            </a:r>
          </a:p>
          <a:p>
            <a:pPr>
              <a:buChar char="•"/>
            </a:pPr>
            <a:r>
              <a:rPr lang="en-US" sz="1100" dirty="0" err="1">
                <a:ea typeface="+mn-lt"/>
                <a:cs typeface="+mn-lt"/>
              </a:rPr>
              <a:t>user_id</a:t>
            </a:r>
            <a:r>
              <a:rPr lang="en-US" sz="1100" dirty="0">
                <a:ea typeface="+mn-lt"/>
                <a:cs typeface="+mn-lt"/>
              </a:rPr>
              <a:t> – Linked user’s ID</a:t>
            </a:r>
            <a:endParaRPr lang="en-US" dirty="0"/>
          </a:p>
          <a:p>
            <a:pPr>
              <a:buChar char="•"/>
            </a:pPr>
            <a:r>
              <a:rPr lang="en-US" sz="1100" dirty="0" err="1">
                <a:ea typeface="+mn-lt"/>
                <a:cs typeface="+mn-lt"/>
              </a:rPr>
              <a:t>profile_name</a:t>
            </a:r>
            <a:r>
              <a:rPr lang="en-US" sz="1100" dirty="0">
                <a:ea typeface="+mn-lt"/>
                <a:cs typeface="+mn-lt"/>
              </a:rPr>
              <a:t> – Profile’s display name</a:t>
            </a:r>
            <a:endParaRPr lang="en-US" dirty="0"/>
          </a:p>
          <a:p>
            <a:pPr>
              <a:buChar char="•"/>
            </a:pPr>
            <a:r>
              <a:rPr lang="en-US" sz="1100" dirty="0" err="1">
                <a:ea typeface="+mn-lt"/>
                <a:cs typeface="+mn-lt"/>
              </a:rPr>
              <a:t>age_restriction</a:t>
            </a:r>
            <a:r>
              <a:rPr lang="en-US" sz="1100" dirty="0">
                <a:ea typeface="+mn-lt"/>
                <a:cs typeface="+mn-lt"/>
              </a:rPr>
              <a:t> – Content access limitation</a:t>
            </a:r>
            <a:endParaRPr lang="en-US" dirty="0"/>
          </a:p>
          <a:p>
            <a:pPr>
              <a:buChar char="•"/>
            </a:pPr>
            <a:r>
              <a:rPr lang="en-US" sz="1100" dirty="0" err="1">
                <a:ea typeface="+mn-lt"/>
                <a:cs typeface="+mn-lt"/>
              </a:rPr>
              <a:t>preferred_language</a:t>
            </a:r>
            <a:r>
              <a:rPr lang="en-US" sz="1100" dirty="0">
                <a:ea typeface="+mn-lt"/>
                <a:cs typeface="+mn-lt"/>
              </a:rPr>
              <a:t> – Chosen language preference</a:t>
            </a:r>
            <a:endParaRPr lang="en-US" dirty="0"/>
          </a:p>
          <a:p>
            <a:pPr>
              <a:buChar char="•"/>
            </a:pPr>
            <a:r>
              <a:rPr lang="en-US" sz="1100" dirty="0" err="1">
                <a:ea typeface="+mn-lt"/>
                <a:cs typeface="+mn-lt"/>
              </a:rPr>
              <a:t>last_active_device</a:t>
            </a:r>
            <a:r>
              <a:rPr lang="en-US" sz="1100" dirty="0">
                <a:ea typeface="+mn-lt"/>
                <a:cs typeface="+mn-lt"/>
              </a:rPr>
              <a:t> – Recently used device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A6809-8CBD-1B72-AAC4-9D8BAA5F8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4" y="940443"/>
            <a:ext cx="4490640" cy="37183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6532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EC6D8D71-52CF-751A-143D-8AEF031D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410CF39D-0448-9554-8899-A06697C30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423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Data – Advertisement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A8F7F-CD2F-B38E-EEA4-CC3F3BA23662}"/>
              </a:ext>
            </a:extLst>
          </p:cNvPr>
          <p:cNvSpPr txBox="1"/>
          <p:nvPr/>
        </p:nvSpPr>
        <p:spPr>
          <a:xfrm>
            <a:off x="2307419" y="3563828"/>
            <a:ext cx="4535818" cy="122586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1100" dirty="0">
                <a:ea typeface="+mn-lt"/>
                <a:cs typeface="+mn-lt"/>
              </a:rPr>
              <a:t> Table Name - Advertisement</a:t>
            </a:r>
            <a:endParaRPr lang="en-US" sz="1100" dirty="0">
              <a:cs typeface="Arial"/>
            </a:endParaRPr>
          </a:p>
          <a:p>
            <a:pPr>
              <a:buChar char="•"/>
            </a:pP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ad_id</a:t>
            </a:r>
            <a:r>
              <a:rPr lang="en-US" sz="1100" dirty="0">
                <a:ea typeface="+mn-lt"/>
                <a:cs typeface="+mn-lt"/>
              </a:rPr>
              <a:t> – Unique advertisement identifier</a:t>
            </a:r>
            <a:endParaRPr lang="en-US" dirty="0">
              <a:ea typeface="+mn-lt"/>
              <a:cs typeface="+mn-lt"/>
            </a:endParaRPr>
          </a:p>
          <a:p>
            <a:pPr>
              <a:buChar char="•"/>
            </a:pP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err="1">
                <a:ea typeface="+mn-lt"/>
                <a:cs typeface="+mn-lt"/>
              </a:rPr>
              <a:t>ad_name</a:t>
            </a:r>
            <a:r>
              <a:rPr lang="en-US" sz="1100" dirty="0">
                <a:ea typeface="+mn-lt"/>
                <a:cs typeface="+mn-lt"/>
              </a:rPr>
              <a:t> – Name of the advertisement</a:t>
            </a:r>
            <a:endParaRPr lang="en-US" dirty="0"/>
          </a:p>
          <a:p>
            <a:pPr>
              <a:buChar char="•"/>
            </a:pP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ad_duration</a:t>
            </a:r>
            <a:r>
              <a:rPr lang="en-US" sz="1100" dirty="0">
                <a:ea typeface="+mn-lt"/>
                <a:cs typeface="+mn-lt"/>
              </a:rPr>
              <a:t> – Duration in seconds</a:t>
            </a:r>
            <a:endParaRPr lang="en-US" dirty="0"/>
          </a:p>
          <a:p>
            <a:pPr>
              <a:buChar char="•"/>
            </a:pPr>
            <a:r>
              <a:rPr lang="en-US" sz="1100" dirty="0">
                <a:ea typeface="+mn-lt"/>
                <a:cs typeface="+mn-lt"/>
              </a:rPr>
              <a:t> category – Advertisement category/type</a:t>
            </a:r>
            <a:endParaRPr lang="en-US" dirty="0"/>
          </a:p>
          <a:p>
            <a:pPr>
              <a:buChar char="•"/>
            </a:pP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target_region</a:t>
            </a:r>
            <a:r>
              <a:rPr lang="en-US" sz="1100" dirty="0">
                <a:ea typeface="+mn-lt"/>
                <a:cs typeface="+mn-lt"/>
              </a:rPr>
              <a:t> – Targeted geographical region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BBA3A8-AE53-0017-3619-305BD0A6C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827" y="483053"/>
            <a:ext cx="3500347" cy="29527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1879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61632011-7A54-7C0F-FA93-CF8BA84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64DF66FE-E3B0-F220-9042-0D253A1D89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115545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Example Query #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9FFB9-B8DD-3805-3043-AC08D7D65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190" y="649061"/>
            <a:ext cx="6652534" cy="21989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list of movies&#10;&#10;AI-generated content may be incorrect.">
            <a:extLst>
              <a:ext uri="{FF2B5EF4-FFF2-40B4-BE49-F238E27FC236}">
                <a16:creationId xmlns:a16="http://schemas.microsoft.com/office/drawing/2014/main" id="{2CB270BE-4087-46C0-CC15-24B0D74DB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173" y="2943225"/>
            <a:ext cx="2441122" cy="20873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7381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7E5BF286-3F53-5B42-25AB-A29CDB0E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4D72A716-3530-B8E8-75E3-3DF47E0A29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115545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Example Query # 2</a:t>
            </a:r>
          </a:p>
        </p:txBody>
      </p:sp>
      <p:pic>
        <p:nvPicPr>
          <p:cNvPr id="2" name="Picture 1" descr="A close-up of a code&#10;&#10;AI-generated content may be incorrect.">
            <a:extLst>
              <a:ext uri="{FF2B5EF4-FFF2-40B4-BE49-F238E27FC236}">
                <a16:creationId xmlns:a16="http://schemas.microsoft.com/office/drawing/2014/main" id="{111466C2-F33E-C851-74A1-6FBFE32C6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93" y="800100"/>
            <a:ext cx="7425418" cy="1835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EC81F2-8D25-C4F6-DB9D-709C49F12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914" y="2778580"/>
            <a:ext cx="2950030" cy="2124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318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9AB8998A-0799-A1A7-8CC4-2C5762D9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F3AD6081-9BF3-59F3-AA59-2470CEDD0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115545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Data Analysis #1</a:t>
            </a:r>
          </a:p>
        </p:txBody>
      </p:sp>
      <p:pic>
        <p:nvPicPr>
          <p:cNvPr id="2" name="Picture 1" descr="A screenshot of a number&#10;&#10;AI-generated content may be incorrect.">
            <a:extLst>
              <a:ext uri="{FF2B5EF4-FFF2-40B4-BE49-F238E27FC236}">
                <a16:creationId xmlns:a16="http://schemas.microsoft.com/office/drawing/2014/main" id="{072F90F4-BC18-AD67-B10C-A7BBAC92F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74138"/>
            <a:ext cx="8293554" cy="2041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1E4BA9-E15A-B066-788A-D29C480FAF25}"/>
              </a:ext>
            </a:extLst>
          </p:cNvPr>
          <p:cNvSpPr txBox="1"/>
          <p:nvPr/>
        </p:nvSpPr>
        <p:spPr>
          <a:xfrm>
            <a:off x="430378" y="3444649"/>
            <a:ext cx="8290367" cy="919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The recommendation system appears misaligned with user preferences, as the most-watched genres receive no recommendations, while lesser-watched genres are being suggested</a:t>
            </a:r>
          </a:p>
        </p:txBody>
      </p:sp>
    </p:spTree>
    <p:extLst>
      <p:ext uri="{BB962C8B-B14F-4D97-AF65-F5344CB8AC3E}">
        <p14:creationId xmlns:p14="http://schemas.microsoft.com/office/powerpoint/2010/main" val="2271456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32BA92EC-10C5-F372-E958-EF46B21B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64BF0609-7D78-EEE6-152B-4C2A91B3C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Data Analysis #2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10C9C-80E3-197C-8A89-7DFFA09765B1}"/>
              </a:ext>
            </a:extLst>
          </p:cNvPr>
          <p:cNvSpPr txBox="1"/>
          <p:nvPr/>
        </p:nvSpPr>
        <p:spPr>
          <a:xfrm>
            <a:off x="233353" y="2969733"/>
            <a:ext cx="8679892" cy="11237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A Basic plan user, faces long issue resolution times (50 hours) and low payment activity, indicating a potential churn risk due to poor support experience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E2226F84-7B3E-5C00-C144-F760B843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13" y="1585866"/>
            <a:ext cx="8215028" cy="8539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1280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7AAA2902-3EA2-0C0D-60D9-E719A9E0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>
            <a:extLst>
              <a:ext uri="{FF2B5EF4-FFF2-40B4-BE49-F238E27FC236}">
                <a16:creationId xmlns:a16="http://schemas.microsoft.com/office/drawing/2014/main" id="{EB17E7A3-17A6-9316-8211-14622E504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 dirty="0">
                <a:latin typeface="Fira Sans Extra Condensed"/>
                <a:cs typeface="Arial"/>
              </a:rPr>
              <a:t>Data Analysis #3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2981178-3DE1-BDE6-17D5-60C148BDA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93" y="1283825"/>
            <a:ext cx="5360995" cy="34813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EBD83F-A1A4-FEFE-6B5B-95D77E1C43BE}"/>
              </a:ext>
            </a:extLst>
          </p:cNvPr>
          <p:cNvSpPr txBox="1"/>
          <p:nvPr/>
        </p:nvSpPr>
        <p:spPr>
          <a:xfrm>
            <a:off x="5801645" y="2309625"/>
            <a:ext cx="3135917" cy="12939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Ad revenue and engagement peak at specific hours, with Entertainment leading in revenue and Food and Technology performing well around lunchtime.</a:t>
            </a:r>
          </a:p>
        </p:txBody>
      </p:sp>
    </p:spTree>
    <p:extLst>
      <p:ext uri="{BB962C8B-B14F-4D97-AF65-F5344CB8AC3E}">
        <p14:creationId xmlns:p14="http://schemas.microsoft.com/office/powerpoint/2010/main" val="1828590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>
          <a:extLst>
            <a:ext uri="{FF2B5EF4-FFF2-40B4-BE49-F238E27FC236}">
              <a16:creationId xmlns:a16="http://schemas.microsoft.com/office/drawing/2014/main" id="{00060FE4-6B10-A90A-2911-CAD3181C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9EB161B5-8062-C6AD-FD01-AF2C385B19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17025" y="12804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</a:rPr>
              <a:t>Thank You!</a:t>
            </a:r>
            <a:br>
              <a:rPr lang="en" dirty="0">
                <a:solidFill>
                  <a:srgbClr val="000000"/>
                </a:solidFill>
              </a:rPr>
            </a:br>
            <a:r>
              <a:rPr lang="en" dirty="0"/>
              <a:t>Q&amp;A?</a:t>
            </a:r>
            <a:endParaRPr lang="en-US" dirty="0"/>
          </a:p>
        </p:txBody>
      </p:sp>
      <p:grpSp>
        <p:nvGrpSpPr>
          <p:cNvPr id="57" name="Google Shape;57;p15">
            <a:extLst>
              <a:ext uri="{FF2B5EF4-FFF2-40B4-BE49-F238E27FC236}">
                <a16:creationId xmlns:a16="http://schemas.microsoft.com/office/drawing/2014/main" id="{ABBCB7BF-43F2-023F-E611-96CF086F36EF}"/>
              </a:ext>
            </a:extLst>
          </p:cNvPr>
          <p:cNvGrpSpPr/>
          <p:nvPr/>
        </p:nvGrpSpPr>
        <p:grpSpPr>
          <a:xfrm rot="1578645" flipH="1">
            <a:off x="2731727" y="1134112"/>
            <a:ext cx="1566930" cy="1715068"/>
            <a:chOff x="4718425" y="934625"/>
            <a:chExt cx="1467100" cy="1605800"/>
          </a:xfrm>
        </p:grpSpPr>
        <p:cxnSp>
          <p:nvCxnSpPr>
            <p:cNvPr id="58" name="Google Shape;58;p15">
              <a:extLst>
                <a:ext uri="{FF2B5EF4-FFF2-40B4-BE49-F238E27FC236}">
                  <a16:creationId xmlns:a16="http://schemas.microsoft.com/office/drawing/2014/main" id="{F7EB8274-EFDA-9385-202E-68BD70EE7553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50D27D47-338A-BD8D-1B81-B3DC8DA82E36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>
            <a:extLst>
              <a:ext uri="{FF2B5EF4-FFF2-40B4-BE49-F238E27FC236}">
                <a16:creationId xmlns:a16="http://schemas.microsoft.com/office/drawing/2014/main" id="{39A96B00-5898-17D2-5CFA-4C540E0AF875}"/>
              </a:ext>
            </a:extLst>
          </p:cNvPr>
          <p:cNvGrpSpPr/>
          <p:nvPr/>
        </p:nvGrpSpPr>
        <p:grpSpPr>
          <a:xfrm rot="1578645" flipH="1">
            <a:off x="1209287" y="2129531"/>
            <a:ext cx="883060" cy="1781848"/>
            <a:chOff x="6176375" y="2540550"/>
            <a:chExt cx="826800" cy="1668325"/>
          </a:xfrm>
        </p:grpSpPr>
        <p:cxnSp>
          <p:nvCxnSpPr>
            <p:cNvPr id="61" name="Google Shape;61;p15">
              <a:extLst>
                <a:ext uri="{FF2B5EF4-FFF2-40B4-BE49-F238E27FC236}">
                  <a16:creationId xmlns:a16="http://schemas.microsoft.com/office/drawing/2014/main" id="{A938FED1-4F01-460D-7882-375FF4683D43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E86AAD9E-7610-F3CD-1DF7-BE1281023DDC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>
            <a:extLst>
              <a:ext uri="{FF2B5EF4-FFF2-40B4-BE49-F238E27FC236}">
                <a16:creationId xmlns:a16="http://schemas.microsoft.com/office/drawing/2014/main" id="{B0529EDC-683E-67E4-E340-E9B7A5781B32}"/>
              </a:ext>
            </a:extLst>
          </p:cNvPr>
          <p:cNvGrpSpPr/>
          <p:nvPr/>
        </p:nvGrpSpPr>
        <p:grpSpPr>
          <a:xfrm rot="1578645" flipH="1">
            <a:off x="2276008" y="697150"/>
            <a:ext cx="709717" cy="1720355"/>
            <a:chOff x="6042175" y="934625"/>
            <a:chExt cx="664500" cy="1610750"/>
          </a:xfrm>
        </p:grpSpPr>
        <p:cxnSp>
          <p:nvCxnSpPr>
            <p:cNvPr id="64" name="Google Shape;64;p15">
              <a:extLst>
                <a:ext uri="{FF2B5EF4-FFF2-40B4-BE49-F238E27FC236}">
                  <a16:creationId xmlns:a16="http://schemas.microsoft.com/office/drawing/2014/main" id="{41D42C3B-5BEF-A646-86D1-2209BEA7AB11}"/>
                </a:ext>
              </a:extLst>
            </p:cNvPr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1C6145E8-5BBD-6613-7300-7D7AE7CC101C}"/>
                </a:ext>
              </a:extLst>
            </p:cNvPr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>
            <a:extLst>
              <a:ext uri="{FF2B5EF4-FFF2-40B4-BE49-F238E27FC236}">
                <a16:creationId xmlns:a16="http://schemas.microsoft.com/office/drawing/2014/main" id="{D17B63BF-4C4C-C66A-8628-A87C0284EF98}"/>
              </a:ext>
            </a:extLst>
          </p:cNvPr>
          <p:cNvGrpSpPr/>
          <p:nvPr/>
        </p:nvGrpSpPr>
        <p:grpSpPr>
          <a:xfrm rot="1578645" flipH="1">
            <a:off x="722626" y="1237720"/>
            <a:ext cx="1983628" cy="780902"/>
            <a:chOff x="6185550" y="1814200"/>
            <a:chExt cx="1857250" cy="731150"/>
          </a:xfrm>
        </p:grpSpPr>
        <p:cxnSp>
          <p:nvCxnSpPr>
            <p:cNvPr id="67" name="Google Shape;67;p15">
              <a:extLst>
                <a:ext uri="{FF2B5EF4-FFF2-40B4-BE49-F238E27FC236}">
                  <a16:creationId xmlns:a16="http://schemas.microsoft.com/office/drawing/2014/main" id="{C3CDE0E9-C100-75CB-FE52-43D362754309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CAF7B8EE-E93D-EADA-B3E4-F6EC5213FB0C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>
            <a:extLst>
              <a:ext uri="{FF2B5EF4-FFF2-40B4-BE49-F238E27FC236}">
                <a16:creationId xmlns:a16="http://schemas.microsoft.com/office/drawing/2014/main" id="{03C4C9FB-B638-2D61-DB21-9651A032B21E}"/>
              </a:ext>
            </a:extLst>
          </p:cNvPr>
          <p:cNvGrpSpPr/>
          <p:nvPr/>
        </p:nvGrpSpPr>
        <p:grpSpPr>
          <a:xfrm rot="1578645" flipH="1">
            <a:off x="2109021" y="2795838"/>
            <a:ext cx="1944805" cy="975633"/>
            <a:chOff x="4369400" y="2545175"/>
            <a:chExt cx="1820900" cy="913475"/>
          </a:xfrm>
        </p:grpSpPr>
        <p:cxnSp>
          <p:nvCxnSpPr>
            <p:cNvPr id="70" name="Google Shape;70;p15">
              <a:extLst>
                <a:ext uri="{FF2B5EF4-FFF2-40B4-BE49-F238E27FC236}">
                  <a16:creationId xmlns:a16="http://schemas.microsoft.com/office/drawing/2014/main" id="{F8B518CF-CDBE-E6C6-5111-D2B5C34A0966}"/>
                </a:ext>
              </a:extLst>
            </p:cNvPr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3368B3BE-D661-8CE1-1F78-B1D78CC7724B}"/>
                </a:ext>
              </a:extLst>
            </p:cNvPr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>
            <a:extLst>
              <a:ext uri="{FF2B5EF4-FFF2-40B4-BE49-F238E27FC236}">
                <a16:creationId xmlns:a16="http://schemas.microsoft.com/office/drawing/2014/main" id="{F955DE66-BC21-85E9-273B-E81686B4AA17}"/>
              </a:ext>
            </a:extLst>
          </p:cNvPr>
          <p:cNvGrpSpPr/>
          <p:nvPr/>
        </p:nvGrpSpPr>
        <p:grpSpPr>
          <a:xfrm rot="1578645" flipH="1">
            <a:off x="1980644" y="2609568"/>
            <a:ext cx="1276075" cy="1710769"/>
            <a:chOff x="4995600" y="2545225"/>
            <a:chExt cx="1194775" cy="1601775"/>
          </a:xfrm>
        </p:grpSpPr>
        <p:cxnSp>
          <p:nvCxnSpPr>
            <p:cNvPr id="73" name="Google Shape;73;p15">
              <a:extLst>
                <a:ext uri="{FF2B5EF4-FFF2-40B4-BE49-F238E27FC236}">
                  <a16:creationId xmlns:a16="http://schemas.microsoft.com/office/drawing/2014/main" id="{E8ED35E3-CC79-5BA4-3A32-0001C0E4B175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93C82682-03C6-2270-C597-8073ED655AD9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>
            <a:extLst>
              <a:ext uri="{FF2B5EF4-FFF2-40B4-BE49-F238E27FC236}">
                <a16:creationId xmlns:a16="http://schemas.microsoft.com/office/drawing/2014/main" id="{30964F04-DB2E-3D43-2AB6-D73F8A4BF599}"/>
              </a:ext>
            </a:extLst>
          </p:cNvPr>
          <p:cNvGrpSpPr/>
          <p:nvPr/>
        </p:nvGrpSpPr>
        <p:grpSpPr>
          <a:xfrm rot="1578645" flipH="1">
            <a:off x="966801" y="2074508"/>
            <a:ext cx="1383493" cy="664004"/>
            <a:chOff x="6190400" y="2545375"/>
            <a:chExt cx="1295350" cy="621700"/>
          </a:xfrm>
        </p:grpSpPr>
        <p:cxnSp>
          <p:nvCxnSpPr>
            <p:cNvPr id="76" name="Google Shape;76;p15">
              <a:extLst>
                <a:ext uri="{FF2B5EF4-FFF2-40B4-BE49-F238E27FC236}">
                  <a16:creationId xmlns:a16="http://schemas.microsoft.com/office/drawing/2014/main" id="{17B2293C-AEEE-3651-2763-23D59EB7C7CC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295C7B5A-3946-4166-D559-A192FFB6B301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>
            <a:extLst>
              <a:ext uri="{FF2B5EF4-FFF2-40B4-BE49-F238E27FC236}">
                <a16:creationId xmlns:a16="http://schemas.microsoft.com/office/drawing/2014/main" id="{1F284B55-874C-8989-EC26-F99553D85FFF}"/>
              </a:ext>
            </a:extLst>
          </p:cNvPr>
          <p:cNvGrpSpPr/>
          <p:nvPr/>
        </p:nvGrpSpPr>
        <p:grpSpPr>
          <a:xfrm rot="1578645" flipH="1">
            <a:off x="2459157" y="2311074"/>
            <a:ext cx="1561911" cy="485107"/>
            <a:chOff x="4718425" y="2096250"/>
            <a:chExt cx="1462400" cy="454200"/>
          </a:xfrm>
        </p:grpSpPr>
        <p:cxnSp>
          <p:nvCxnSpPr>
            <p:cNvPr id="79" name="Google Shape;79;p15">
              <a:extLst>
                <a:ext uri="{FF2B5EF4-FFF2-40B4-BE49-F238E27FC236}">
                  <a16:creationId xmlns:a16="http://schemas.microsoft.com/office/drawing/2014/main" id="{2A9DCA1F-0E39-2225-9831-CB553B354835}"/>
                </a:ext>
              </a:extLst>
            </p:cNvPr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8EC566F2-48A5-74D2-D8A6-800EC441314A}"/>
                </a:ext>
              </a:extLst>
            </p:cNvPr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>
            <a:extLst>
              <a:ext uri="{FF2B5EF4-FFF2-40B4-BE49-F238E27FC236}">
                <a16:creationId xmlns:a16="http://schemas.microsoft.com/office/drawing/2014/main" id="{7E61DCE1-5C1B-20E3-7891-FEF151C56A09}"/>
              </a:ext>
            </a:extLst>
          </p:cNvPr>
          <p:cNvGrpSpPr/>
          <p:nvPr/>
        </p:nvGrpSpPr>
        <p:grpSpPr>
          <a:xfrm rot="1578645" flipH="1">
            <a:off x="1623907" y="1111363"/>
            <a:ext cx="1113158" cy="1112690"/>
            <a:chOff x="6185500" y="1498650"/>
            <a:chExt cx="1042238" cy="1041800"/>
          </a:xfrm>
        </p:grpSpPr>
        <p:cxnSp>
          <p:nvCxnSpPr>
            <p:cNvPr id="82" name="Google Shape;82;p15">
              <a:extLst>
                <a:ext uri="{FF2B5EF4-FFF2-40B4-BE49-F238E27FC236}">
                  <a16:creationId xmlns:a16="http://schemas.microsoft.com/office/drawing/2014/main" id="{8AEA3599-C639-B5DE-ED35-DAD1398ACFAE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0138F040-97D8-DA82-5621-4C990CAE7391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>
            <a:extLst>
              <a:ext uri="{FF2B5EF4-FFF2-40B4-BE49-F238E27FC236}">
                <a16:creationId xmlns:a16="http://schemas.microsoft.com/office/drawing/2014/main" id="{219DC6D6-96DA-FA76-4A63-426139E5C80E}"/>
              </a:ext>
            </a:extLst>
          </p:cNvPr>
          <p:cNvGrpSpPr/>
          <p:nvPr/>
        </p:nvGrpSpPr>
        <p:grpSpPr>
          <a:xfrm rot="1578645" flipH="1">
            <a:off x="1819727" y="1791398"/>
            <a:ext cx="1250896" cy="1250896"/>
            <a:chOff x="5587975" y="1952850"/>
            <a:chExt cx="1171200" cy="1171200"/>
          </a:xfrm>
        </p:grpSpPr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09DC3A9D-8D9E-38CE-3DDA-37BFE5A2EAA6}"/>
                </a:ext>
              </a:extLst>
            </p:cNvPr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BE427B65-7FE9-2063-4A6D-3764BDCBA693}"/>
                </a:ext>
              </a:extLst>
            </p:cNvPr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grpSp>
        <p:nvGrpSpPr>
          <p:cNvPr id="87" name="Google Shape;87;p15">
            <a:extLst>
              <a:ext uri="{FF2B5EF4-FFF2-40B4-BE49-F238E27FC236}">
                <a16:creationId xmlns:a16="http://schemas.microsoft.com/office/drawing/2014/main" id="{3B847CE0-BAD2-A7B5-FBB4-4035878A441E}"/>
              </a:ext>
            </a:extLst>
          </p:cNvPr>
          <p:cNvGrpSpPr/>
          <p:nvPr/>
        </p:nvGrpSpPr>
        <p:grpSpPr>
          <a:xfrm>
            <a:off x="2154992" y="2116967"/>
            <a:ext cx="580986" cy="579903"/>
            <a:chOff x="1421638" y="4125629"/>
            <a:chExt cx="374709" cy="374010"/>
          </a:xfrm>
        </p:grpSpPr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81DD2916-D9B8-FF64-8D41-89E3E381C81D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69470961-CFAA-96C9-6D80-7EC84E22F01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60231437"/>
      </p:ext>
    </p:extLst>
  </p:cSld>
  <p:clrMapOvr>
    <a:masterClrMapping/>
  </p:clrMapOvr>
</p:sld>
</file>

<file path=ppt/theme/theme1.xml><?xml version="1.0" encoding="utf-8"?>
<a:theme xmlns:a="http://schemas.openxmlformats.org/drawingml/2006/main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31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Project Management Infographics by Slidesgo</vt:lpstr>
      <vt:lpstr>Streaming Service Platform Database</vt:lpstr>
      <vt:lpstr>Contents</vt:lpstr>
      <vt:lpstr>Streaming Platform Overview</vt:lpstr>
      <vt:lpstr>Benefits of Developing a Database</vt:lpstr>
      <vt:lpstr>Conceptual Design</vt:lpstr>
      <vt:lpstr>Entity Clusters</vt:lpstr>
      <vt:lpstr>Subscriber Management</vt:lpstr>
      <vt:lpstr>Supertype &amp; Subtype for Subscription plans</vt:lpstr>
      <vt:lpstr>Content Cataloging</vt:lpstr>
      <vt:lpstr>Streaming Analytics </vt:lpstr>
      <vt:lpstr>Customer Support &amp; Monetization</vt:lpstr>
      <vt:lpstr>PowerPoint Presentation</vt:lpstr>
      <vt:lpstr>Transformation into Relational Model</vt:lpstr>
      <vt:lpstr>Mapping Regular Entities</vt:lpstr>
      <vt:lpstr>Mapping Weak Entities</vt:lpstr>
      <vt:lpstr>Mapping Binary Relationships</vt:lpstr>
      <vt:lpstr>Mapping Associative Entities</vt:lpstr>
      <vt:lpstr>Mapping Supertype/Subtype Relationships</vt:lpstr>
      <vt:lpstr>Removing Transitive Dependencies</vt:lpstr>
      <vt:lpstr>Removing Transitive Dependencies</vt:lpstr>
      <vt:lpstr>PowerPoint Presentation</vt:lpstr>
      <vt:lpstr>Final ER Model</vt:lpstr>
      <vt:lpstr>Data – User Table</vt:lpstr>
      <vt:lpstr>Data – Profile Table</vt:lpstr>
      <vt:lpstr>Data – Advertisement Table</vt:lpstr>
      <vt:lpstr>Example Query # 1</vt:lpstr>
      <vt:lpstr>Example Query # 2</vt:lpstr>
      <vt:lpstr>Data Analysis #1</vt:lpstr>
      <vt:lpstr>Data Analysis #2</vt:lpstr>
      <vt:lpstr>Data Analysis #3</vt:lpstr>
      <vt:lpstr>Thank You! Q&amp;A?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1562</cp:revision>
  <dcterms:modified xsi:type="dcterms:W3CDTF">2025-03-11T23:36:01Z</dcterms:modified>
</cp:coreProperties>
</file>